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d2d41b4a16e4e48" /><Relationship Type="http://schemas.openxmlformats.org/officeDocument/2006/relationships/extended-properties" Target="/docProps/app.xml" Id="R27e812698f1945f2" /><Relationship Type="http://schemas.openxmlformats.org/officeDocument/2006/relationships/officeDocument" Target="/ppt/presentation.xml" Id="R70e005dd301f44a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a8e5c2e7af84d40"/>
  </p:sldMasterIdLst>
  <p:notesMasterIdLst>
    <p:notesMasterId xmlns:r="http://schemas.openxmlformats.org/officeDocument/2006/relationships" r:id="Rd5be130e8d634aa9"/>
  </p:notesMasterIdLst>
  <p:sldIdLst>
    <p:sldId xmlns:r="http://schemas.openxmlformats.org/officeDocument/2006/relationships" id="256" r:id="Rfc9669cce53e4ba8"/>
    <p:sldId xmlns:r="http://schemas.openxmlformats.org/officeDocument/2006/relationships" id="257" r:id="R3393e13a51244062"/>
    <p:sldId xmlns:r="http://schemas.openxmlformats.org/officeDocument/2006/relationships" id="258" r:id="R39f19d47e0c744c6"/>
    <p:sldId xmlns:r="http://schemas.openxmlformats.org/officeDocument/2006/relationships" id="259" r:id="Rc17d3333907b4864"/>
    <p:sldId xmlns:r="http://schemas.openxmlformats.org/officeDocument/2006/relationships" id="260" r:id="R5edfd8d01d17405f"/>
    <p:sldId xmlns:r="http://schemas.openxmlformats.org/officeDocument/2006/relationships" id="261" r:id="R04e331f1fe7942f8"/>
    <p:sldId xmlns:r="http://schemas.openxmlformats.org/officeDocument/2006/relationships" id="262" r:id="R89d46db4802a456b"/>
    <p:sldId xmlns:r="http://schemas.openxmlformats.org/officeDocument/2006/relationships" id="263" r:id="Re8282695646f42a0"/>
    <p:sldId xmlns:r="http://schemas.openxmlformats.org/officeDocument/2006/relationships" id="264" r:id="Rf9180af822f74e82"/>
    <p:sldId xmlns:r="http://schemas.openxmlformats.org/officeDocument/2006/relationships" id="265" r:id="R3589a974adb7478b"/>
    <p:sldId xmlns:r="http://schemas.openxmlformats.org/officeDocument/2006/relationships" id="266" r:id="R71b23aa6784e4137"/>
    <p:sldId xmlns:r="http://schemas.openxmlformats.org/officeDocument/2006/relationships" id="267" r:id="R014430e8bf7f4631"/>
    <p:sldId xmlns:r="http://schemas.openxmlformats.org/officeDocument/2006/relationships" id="268" r:id="R68ddb207dd3c4dae"/>
    <p:sldId xmlns:r="http://schemas.openxmlformats.org/officeDocument/2006/relationships" id="269" r:id="R46b627d65f844854"/>
    <p:sldId xmlns:r="http://schemas.openxmlformats.org/officeDocument/2006/relationships" id="270" r:id="R49bff75ee9924d44"/>
    <p:sldId xmlns:r="http://schemas.openxmlformats.org/officeDocument/2006/relationships" id="271" r:id="R27f0611aefb841ed"/>
    <p:sldId xmlns:r="http://schemas.openxmlformats.org/officeDocument/2006/relationships" id="272" r:id="R6b510afc6b1e4e3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7022c7d95e141e5" /><Relationship Type="http://schemas.openxmlformats.org/officeDocument/2006/relationships/slideMaster" Target="/ppt/slideMasters/slideMaster1.xml" Id="Raa8e5c2e7af84d40" /><Relationship Type="http://schemas.openxmlformats.org/officeDocument/2006/relationships/notesMaster" Target="/ppt/notesMasters/notesMaster1.xml" Id="Rd5be130e8d634aa9" /><Relationship Type="http://schemas.openxmlformats.org/officeDocument/2006/relationships/presProps" Target="/ppt/presProps.xml" Id="R20a4b4ef9f3c4ffc" /><Relationship Type="http://schemas.openxmlformats.org/officeDocument/2006/relationships/viewProps" Target="/ppt/viewProps.xml" Id="R01eeb2681c7c4785" /><Relationship Type="http://schemas.openxmlformats.org/officeDocument/2006/relationships/tableStyles" Target="/ppt/tableStyles.xml" Id="Rfb299695582e44f8" /><Relationship Type="http://schemas.openxmlformats.org/officeDocument/2006/relationships/slide" Target="/ppt/slides/slide1.xml" Id="Rfc9669cce53e4ba8" /><Relationship Type="http://schemas.openxmlformats.org/officeDocument/2006/relationships/slide" Target="/ppt/slides/slide2.xml" Id="R3393e13a51244062" /><Relationship Type="http://schemas.openxmlformats.org/officeDocument/2006/relationships/slide" Target="/ppt/slides/slide3.xml" Id="R39f19d47e0c744c6" /><Relationship Type="http://schemas.openxmlformats.org/officeDocument/2006/relationships/slide" Target="/ppt/slides/slide4.xml" Id="Rc17d3333907b4864" /><Relationship Type="http://schemas.openxmlformats.org/officeDocument/2006/relationships/slide" Target="/ppt/slides/slide5.xml" Id="R5edfd8d01d17405f" /><Relationship Type="http://schemas.openxmlformats.org/officeDocument/2006/relationships/slide" Target="/ppt/slides/slide6.xml" Id="R04e331f1fe7942f8" /><Relationship Type="http://schemas.openxmlformats.org/officeDocument/2006/relationships/slide" Target="/ppt/slides/slide7.xml" Id="R89d46db4802a456b" /><Relationship Type="http://schemas.openxmlformats.org/officeDocument/2006/relationships/slide" Target="/ppt/slides/slide8.xml" Id="Re8282695646f42a0" /><Relationship Type="http://schemas.openxmlformats.org/officeDocument/2006/relationships/slide" Target="/ppt/slides/slide9.xml" Id="Rf9180af822f74e82" /><Relationship Type="http://schemas.openxmlformats.org/officeDocument/2006/relationships/slide" Target="/ppt/slides/slide10.xml" Id="R3589a974adb7478b" /><Relationship Type="http://schemas.openxmlformats.org/officeDocument/2006/relationships/slide" Target="/ppt/slides/slide11.xml" Id="R71b23aa6784e4137" /><Relationship Type="http://schemas.openxmlformats.org/officeDocument/2006/relationships/slide" Target="/ppt/slides/slide12.xml" Id="R014430e8bf7f4631" /><Relationship Type="http://schemas.openxmlformats.org/officeDocument/2006/relationships/slide" Target="/ppt/slides/slide13.xml" Id="R68ddb207dd3c4dae" /><Relationship Type="http://schemas.openxmlformats.org/officeDocument/2006/relationships/slide" Target="/ppt/slides/slide14.xml" Id="R46b627d65f844854" /><Relationship Type="http://schemas.openxmlformats.org/officeDocument/2006/relationships/slide" Target="/ppt/slides/slide15.xml" Id="R49bff75ee9924d44" /><Relationship Type="http://schemas.openxmlformats.org/officeDocument/2006/relationships/slide" Target="/ppt/slides/slide16.xml" Id="R27f0611aefb841ed" /><Relationship Type="http://schemas.openxmlformats.org/officeDocument/2006/relationships/slide" Target="/ppt/slides/slide17.xml" Id="R6b510afc6b1e4e3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78f19001501456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4e6c35506e74f17" /><Relationship Type="http://schemas.openxmlformats.org/officeDocument/2006/relationships/notesMaster" Target="/ppt/notesMasters/notesMaster1.xml" Id="R7f108289589f408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58c601987f64703" /><Relationship Type="http://schemas.openxmlformats.org/officeDocument/2006/relationships/notesMaster" Target="/ppt/notesMasters/notesMaster1.xml" Id="R84763772ce3c474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abeea0539684996" /><Relationship Type="http://schemas.openxmlformats.org/officeDocument/2006/relationships/notesMaster" Target="/ppt/notesMasters/notesMaster1.xml" Id="R4b72405656d94ca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0605cecdf0948bc" /><Relationship Type="http://schemas.openxmlformats.org/officeDocument/2006/relationships/notesMaster" Target="/ppt/notesMasters/notesMaster1.xml" Id="R259d6d06bec04e1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40995ab00a1444f" /><Relationship Type="http://schemas.openxmlformats.org/officeDocument/2006/relationships/notesMaster" Target="/ppt/notesMasters/notesMaster1.xml" Id="R8c3f07e5738c4a3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cea6088d83142ad" /><Relationship Type="http://schemas.openxmlformats.org/officeDocument/2006/relationships/notesMaster" Target="/ppt/notesMasters/notesMaster1.xml" Id="R64950b00e5cc455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e083e965ff94b2b" /><Relationship Type="http://schemas.openxmlformats.org/officeDocument/2006/relationships/notesMaster" Target="/ppt/notesMasters/notesMaster1.xml" Id="R92b70153c35e4f7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a23eda28d0c469c" /><Relationship Type="http://schemas.openxmlformats.org/officeDocument/2006/relationships/notesMaster" Target="/ppt/notesMasters/notesMaster1.xml" Id="Rf31e63a1d6e34be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c9d16468a5244ff" /><Relationship Type="http://schemas.openxmlformats.org/officeDocument/2006/relationships/notesMaster" Target="/ppt/notesMasters/notesMaster1.xml" Id="R582858f718d14bf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db510835fe84d0d" /><Relationship Type="http://schemas.openxmlformats.org/officeDocument/2006/relationships/notesMaster" Target="/ppt/notesMasters/notesMaster1.xml" Id="R95b9623ff71f447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22a3335df4d4280" /><Relationship Type="http://schemas.openxmlformats.org/officeDocument/2006/relationships/notesMaster" Target="/ppt/notesMasters/notesMaster1.xml" Id="Rb323c67359c5492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4e2bab96a75478a" /><Relationship Type="http://schemas.openxmlformats.org/officeDocument/2006/relationships/notesMaster" Target="/ppt/notesMasters/notesMaster1.xml" Id="Rc0d1d6c6879c49a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8cf432a0cf34e59" /><Relationship Type="http://schemas.openxmlformats.org/officeDocument/2006/relationships/notesMaster" Target="/ppt/notesMasters/notesMaster1.xml" Id="R9119d5771b58406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4882fccc9f6428f" /><Relationship Type="http://schemas.openxmlformats.org/officeDocument/2006/relationships/notesMaster" Target="/ppt/notesMasters/notesMaster1.xml" Id="Rd508dd5a302c45c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b9fabf08d814aab" /><Relationship Type="http://schemas.openxmlformats.org/officeDocument/2006/relationships/notesMaster" Target="/ppt/notesMasters/notesMaster1.xml" Id="R46b21211eba84b6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4865e08e70f4c91" /><Relationship Type="http://schemas.openxmlformats.org/officeDocument/2006/relationships/notesMaster" Target="/ppt/notesMasters/notesMaster1.xml" Id="R370e131adc144f9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41c8a01254049e1" /><Relationship Type="http://schemas.openxmlformats.org/officeDocument/2006/relationships/notesMaster" Target="/ppt/notesMasters/notesMaster1.xml" Id="R3963aa21621642f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35dfa30108475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266635a94454480" /><Relationship Type="http://schemas.openxmlformats.org/officeDocument/2006/relationships/slideLayout" Target="/ppt/slideLayouts/slideLayout1.xml" Id="R0631735e98b7476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631735e98b7476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ad2c5d2a5a4d8a" /><Relationship Type="http://schemas.openxmlformats.org/officeDocument/2006/relationships/image" Target="/ppt/media/image.png" Id="Rc97fb38d6a294878" /><Relationship Type="http://schemas.openxmlformats.org/officeDocument/2006/relationships/notesSlide" Target="/ppt/notesSlides/notesSlide1.xml" Id="R8e3c72f9260a4d4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bc095fd74b4abb" /><Relationship Type="http://schemas.openxmlformats.org/officeDocument/2006/relationships/image" Target="/ppt/media/image2.png" Id="Reb69f172daed47c0" /><Relationship Type="http://schemas.openxmlformats.org/officeDocument/2006/relationships/image" Target="/ppt/media/image.svg" Id="R3d7cc2c366904956" /><Relationship Type="http://schemas.openxmlformats.org/officeDocument/2006/relationships/image" Target="/ppt/media/image3.png" Id="R7a169cdcebb149fe" /><Relationship Type="http://schemas.openxmlformats.org/officeDocument/2006/relationships/image" Target="/ppt/media/image2.svg" Id="R497c27d810814208" /><Relationship Type="http://schemas.openxmlformats.org/officeDocument/2006/relationships/image" Target="/ppt/media/image4.png" Id="R2c4377b46f774824" /><Relationship Type="http://schemas.openxmlformats.org/officeDocument/2006/relationships/image" Target="/ppt/media/image3.svg" Id="R2eb23520c9e04357" /><Relationship Type="http://schemas.openxmlformats.org/officeDocument/2006/relationships/notesSlide" Target="/ppt/notesSlides/notesSlide2.xml" Id="Rfc1264db685746e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005d16a7e648f1" /><Relationship Type="http://schemas.openxmlformats.org/officeDocument/2006/relationships/notesSlide" Target="/ppt/notesSlides/notesSlide3.xml" Id="Rfa0d47c45482402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ff97013bba4814" /><Relationship Type="http://schemas.openxmlformats.org/officeDocument/2006/relationships/notesSlide" Target="/ppt/notesSlides/notesSlide4.xml" Id="R203ef59f9dd34c3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97c82f80ac4289" /><Relationship Type="http://schemas.openxmlformats.org/officeDocument/2006/relationships/notesSlide" Target="/ppt/notesSlides/notesSlide5.xml" Id="R5ec049c93ede455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876a5aae064e0d" /><Relationship Type="http://schemas.openxmlformats.org/officeDocument/2006/relationships/image" Target="/ppt/media/image5.png" Id="Re663a349a2a8472e" /><Relationship Type="http://schemas.openxmlformats.org/officeDocument/2006/relationships/image" Target="/ppt/media/image4.svg" Id="R63fd06846a1347ed" /><Relationship Type="http://schemas.openxmlformats.org/officeDocument/2006/relationships/image" Target="/ppt/media/image6.png" Id="R8b98f189719b4d95" /><Relationship Type="http://schemas.openxmlformats.org/officeDocument/2006/relationships/image" Target="/ppt/media/image5.svg" Id="R09fbb6d9efb2416f" /><Relationship Type="http://schemas.openxmlformats.org/officeDocument/2006/relationships/image" Target="/ppt/media/image7.png" Id="R3c02f5c2065b4e3f" /><Relationship Type="http://schemas.openxmlformats.org/officeDocument/2006/relationships/image" Target="/ppt/media/image6.svg" Id="Re2438049c5934983" /><Relationship Type="http://schemas.openxmlformats.org/officeDocument/2006/relationships/notesSlide" Target="/ppt/notesSlides/notesSlide6.xml" Id="Ra92271d595c047f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403529a9a44a9a" /><Relationship Type="http://schemas.openxmlformats.org/officeDocument/2006/relationships/notesSlide" Target="/ppt/notesSlides/notesSlide7.xml" Id="Rde63c89954684e6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cacdf9cbad479e" /><Relationship Type="http://schemas.openxmlformats.org/officeDocument/2006/relationships/notesSlide" Target="/ppt/notesSlides/notesSlide8.xml" Id="Rf5e5f002db604d0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94c8be1b78489d" /><Relationship Type="http://schemas.openxmlformats.org/officeDocument/2006/relationships/notesSlide" Target="/ppt/notesSlides/notesSlide9.xml" Id="Rb74b7fc38729427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ec07dc6ee44226" /><Relationship Type="http://schemas.openxmlformats.org/officeDocument/2006/relationships/image" Target="/ppt/media/image8.png" Id="R3b773148c2e64fbf" /><Relationship Type="http://schemas.openxmlformats.org/officeDocument/2006/relationships/notesSlide" Target="/ppt/notesSlides/notesSlide10.xml" Id="R734c0af027eb485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5a746add5f4424" /><Relationship Type="http://schemas.openxmlformats.org/officeDocument/2006/relationships/image" Target="/ppt/media/image9.png" Id="Rf8a82d7d09284dec" /><Relationship Type="http://schemas.openxmlformats.org/officeDocument/2006/relationships/notesSlide" Target="/ppt/notesSlides/notesSlide11.xml" Id="R5304414171e44e4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e5565ca1c645fe" /><Relationship Type="http://schemas.openxmlformats.org/officeDocument/2006/relationships/notesSlide" Target="/ppt/notesSlides/notesSlide12.xml" Id="R73423f10f0a146b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25e012bb4c4c71" /><Relationship Type="http://schemas.openxmlformats.org/officeDocument/2006/relationships/notesSlide" Target="/ppt/notesSlides/notesSlide13.xml" Id="Rca6d3f0ce9ff4f9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503f9f85834bd6" /><Relationship Type="http://schemas.openxmlformats.org/officeDocument/2006/relationships/notesSlide" Target="/ppt/notesSlides/notesSlide14.xml" Id="R1a40ea84c00c464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05ef00bd78422a" /><Relationship Type="http://schemas.openxmlformats.org/officeDocument/2006/relationships/notesSlide" Target="/ppt/notesSlides/notesSlide15.xml" Id="Rbed0986237e146d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54a370c2734311" /><Relationship Type="http://schemas.openxmlformats.org/officeDocument/2006/relationships/notesSlide" Target="/ppt/notesSlides/notesSlide16.xml" Id="Rd62b908459054f5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25730338bf42cb" /><Relationship Type="http://schemas.openxmlformats.org/officeDocument/2006/relationships/notesSlide" Target="/ppt/notesSlides/notesSlide17.xml" Id="R37ed1a9f81ee4a8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0EDEED7-AD5E-41E2-AD1D-73AC303EE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36E2E7-3B2D-4923-A04C-AA75B4DCF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2A86"/>
          </a:solidFill>
          <a:ln xmlns:a="http://schemas.openxmlformats.org/drawingml/2006/main" w="0">
            <a:solidFill>
              <a:srgbClr val="5B2A8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A50D65-E81E-4C51-AFE6-18D964F42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0"/>
            <a:ext cx="12096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D"/>
          </a:solidFill>
          <a:ln xmlns:a="http://schemas.openxmlformats.org/drawingml/2006/main" w="0">
            <a:solidFill>
              <a:srgbClr val="FBFAF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BECD3E-BC9D-487D-B1C3-EECBAAA3A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187A"/>
          </a:solidFill>
          <a:ln xmlns:a="http://schemas.openxmlformats.org/drawingml/2006/main" w="0">
            <a:solidFill>
              <a:srgbClr val="C2187A"/>
            </a:solidFill>
            <a:prstDash val="solid"/>
          </a:ln>
        </p:spPr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7fb38d6a294878"/>
          <a:stretch xmlns:a="http://schemas.openxmlformats.org/drawingml/2006/main"/>
        </p:blipFill>
        <p:spPr>
          <a:xfrm xmlns:a="http://schemas.openxmlformats.org/drawingml/2006/main">
            <a:off x="9391650" y="666750"/>
            <a:ext cx="1390650" cy="13906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C38141-8CAD-4677-83BF-64B37368E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71327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171327"/>
                </a:solidFill>
                <a:latin typeface="Aptos Display"/>
                <a:ea typeface="Aptos Display"/>
                <a:cs typeface="Aptos Display"/>
              </a:rPr>
              <a:t>Telecom Egypt</a:t>
            </a:r>
          </a:p>
          <a:p xmlns:a="http://schemas.openxmlformats.org/drawingml/2006/main">
            <a:pPr algn="l">
              <a:defRPr sz="4050" b="1">
                <a:solidFill>
                  <a:srgbClr val="171327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171327"/>
                </a:solidFill>
                <a:latin typeface="Aptos Display"/>
                <a:ea typeface="Aptos Display"/>
                <a:cs typeface="Aptos Display"/>
              </a:rPr>
              <a:t>Intelligent Assistant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65A841-57B2-4122-8899-CB8F0F194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48000"/>
            <a:ext cx="723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5B2A86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5B2A86"/>
                </a:solidFill>
                <a:latin typeface="Aptos"/>
                <a:ea typeface="Aptos"/>
                <a:cs typeface="Aptos"/>
              </a:rPr>
              <a:t>Local On-Prem RAG Assistant for WE Services and Uploaded Documents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AD3246-DFBD-4835-98E6-75BFD5961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19550"/>
            <a:ext cx="4191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3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1327"/>
                </a:solidFill>
                <a:latin typeface="Aptos"/>
                <a:ea typeface="Aptos"/>
                <a:cs typeface="Aptos"/>
              </a:rPr>
              <a:t>Ahmed Mohamed Ahmed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8B26BD-73CF-493E-908C-CED74EFFA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62450"/>
            <a:ext cx="723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587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5870"/>
                </a:solidFill>
                <a:latin typeface="Aptos"/>
                <a:ea typeface="Aptos"/>
                <a:cs typeface="Aptos"/>
              </a:rPr>
              <a:t>GitHub: https://github.com/ahmudmuhamad/telecom-egypt-rag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DEBFCF-3A02-4AB5-A601-119EB5EF3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695700"/>
            <a:ext cx="3143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7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4F728C-4E68-4D64-9F3F-ACF4267D1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9243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2187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2187A"/>
                </a:solidFill>
                <a:latin typeface="Aptos"/>
                <a:ea typeface="Aptos"/>
                <a:cs typeface="Aptos"/>
              </a:rPr>
              <a:t>Assessment focus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6A7F88-E166-4CB6-94F5-CF3717AFC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210050"/>
            <a:ext cx="247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13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1327"/>
                </a:solidFill>
                <a:latin typeface="Aptos"/>
                <a:ea typeface="Aptos"/>
                <a:cs typeface="Aptos"/>
              </a:rPr>
              <a:t>Fully local retrieval, generation, uploaded-document processing, and monitoring.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32EFB3-EBA9-4E63-8C54-1BCD7D9EF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77000"/>
            <a:ext cx="2781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8A8198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A8198"/>
                </a:solidFill>
                <a:latin typeface="Aptos"/>
                <a:ea typeface="Aptos"/>
                <a:cs typeface="Aptos"/>
              </a:rPr>
              <a:t>Local/on-prem RAG assistant  |  01</a:t>
            </a:r>
          </a:p>
        </p:txBody>
      </p:sp>
    </p:spTree>
    <p:extLst>
      <p:ext uri="{BB962C8B-B14F-4D97-AF65-F5344CB8AC3E}">
        <p14:creationId xmlns:p14="http://schemas.microsoft.com/office/powerpoint/2010/main" val="187297590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5F748B0-F3E5-44B1-BDB4-EF2FA469C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5023AC-4BB9-4163-8646-67752F809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2A86"/>
          </a:solidFill>
          <a:ln xmlns:a="http://schemas.openxmlformats.org/drawingml/2006/main" w="0">
            <a:solidFill>
              <a:srgbClr val="5B2A86"/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C8B62188-35A7-4C60-88DB-2D4A2E3C8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3863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187A"/>
          </a:solidFill>
          <a:ln xmlns:a="http://schemas.openxmlformats.org/drawingml/2006/main" w="0">
            <a:solidFill>
              <a:srgbClr val="C2187A"/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F681FFA-7973-4CFE-9CC3-807C8A1BC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2187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2187A"/>
                </a:solidFill>
                <a:latin typeface="Aptos"/>
                <a:ea typeface="Aptos"/>
                <a:cs typeface="Aptos"/>
              </a:rPr>
              <a:t>PROBLEM STATEMENT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21437F-C19C-40F5-98C0-4F130FDE5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438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187A"/>
          </a:solidFill>
          <a:ln xmlns:a="http://schemas.openxmlformats.org/drawingml/2006/main" w="0">
            <a:solidFill>
              <a:srgbClr val="C2187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389BEA-E3EC-4F5A-AA2C-65D2EAC59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9144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3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1327"/>
                </a:solidFill>
                <a:latin typeface="Aptos Display"/>
                <a:ea typeface="Aptos Display"/>
                <a:cs typeface="Aptos Display"/>
              </a:rPr>
              <a:t>Customers need trusted answers across scattered WE knowledge.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366EF9-E908-4DFC-B4DC-0BD006E23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52625"/>
            <a:ext cx="31432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7EA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69f172daed47c0">
            <a:extLst>
              <a:ext uri="{96DAC541-7B7A-43D3-8B79-37D633B846F1}">
                <asvg:svgBlip xmlns:asvg="http://schemas.microsoft.com/office/drawing/2016/SVG/main" r:embed="R3d7cc2c36690495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14400" y="2124075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5C84CE-AFAC-4841-9012-673E8C6CC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105025"/>
            <a:ext cx="2400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3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1327"/>
                </a:solidFill>
                <a:latin typeface="Aptos"/>
                <a:ea typeface="Aptos"/>
                <a:cs typeface="Aptos"/>
              </a:rPr>
              <a:t>Many question types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C49111-E18B-4E37-B6D0-D3F8544DA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409825"/>
            <a:ext cx="24003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587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5870"/>
                </a:solidFill>
                <a:latin typeface="Aptos"/>
                <a:ea typeface="Aptos"/>
                <a:cs typeface="Aptos"/>
              </a:rPr>
              <a:t>Packages, codes, services, devices, bills, and uploaded documents.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6FD57D-3FB7-46D9-B006-03C9749FB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952625"/>
            <a:ext cx="31432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7EA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169cdcebb149fe">
            <a:extLst>
              <a:ext uri="{96DAC541-7B7A-43D3-8B79-37D633B846F1}">
                <asvg:svgBlip xmlns:asvg="http://schemas.microsoft.com/office/drawing/2016/SVG/main" r:embed="R497c27d81081420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686300" y="2124075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1AD449-D3CE-4188-9199-880B680CF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105025"/>
            <a:ext cx="2400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3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1327"/>
                </a:solidFill>
                <a:latin typeface="Aptos"/>
                <a:ea typeface="Aptos"/>
                <a:cs typeface="Aptos"/>
              </a:rPr>
              <a:t>Fragmented sources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A36AFE-EFD3-45B1-8ED8-40C05D4C9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409825"/>
            <a:ext cx="24003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587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5870"/>
                </a:solidFill>
                <a:latin typeface="Aptos"/>
                <a:ea typeface="Aptos"/>
                <a:cs typeface="Aptos"/>
              </a:rPr>
              <a:t>Information is spread across web pages, FAQs, scraped content, and files.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BCDA96-C9F0-45B5-8D25-3C632801A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952625"/>
            <a:ext cx="31432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7EA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4377b46f774824">
            <a:extLst>
              <a:ext uri="{96DAC541-7B7A-43D3-8B79-37D633B846F1}">
                <asvg:svgBlip xmlns:asvg="http://schemas.microsoft.com/office/drawing/2016/SVG/main" r:embed="R2eb23520c9e0435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458200" y="2124075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834ADC-06C4-40EB-BFE5-86ACD82AE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05025"/>
            <a:ext cx="2400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3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1327"/>
                </a:solidFill>
                <a:latin typeface="Aptos"/>
                <a:ea typeface="Aptos"/>
                <a:cs typeface="Aptos"/>
              </a:rPr>
              <a:t>Citations required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D05853-D572-4590-B6F9-956961BB5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09825"/>
            <a:ext cx="24003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587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5870"/>
                </a:solidFill>
                <a:latin typeface="Aptos"/>
                <a:ea typeface="Aptos"/>
                <a:cs typeface="Aptos"/>
              </a:rPr>
              <a:t>Answers need reliable source markers, not generic chatbot confidence.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75E6DC-2D44-41A0-8E35-1F4895191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19550"/>
            <a:ext cx="8953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FA"/>
          </a:solidFill>
          <a:ln xmlns:a="http://schemas.openxmlformats.org/drawingml/2006/main" w="9525">
            <a:solidFill>
              <a:srgbClr val="DED7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40444D-101B-4201-A7A5-43FD7658C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24815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2187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2187A"/>
                </a:solidFill>
                <a:latin typeface="Aptos"/>
                <a:ea typeface="Aptos"/>
                <a:cs typeface="Aptos"/>
              </a:rPr>
              <a:t>Assessment constraint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FAAAFD-56E7-4203-9DB4-76873BDE6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552950"/>
            <a:ext cx="809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32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1327"/>
                </a:solidFill>
                <a:latin typeface="Aptos"/>
                <a:ea typeface="Aptos"/>
                <a:cs typeface="Aptos"/>
              </a:rPr>
              <a:t>The project must operate locally/on-premise, so the core assistant cannot depend on a cloud API-only chatbot pattern.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5899E8-A19D-4E5E-841B-0AF424C2C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77000"/>
            <a:ext cx="2781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8A8198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A8198"/>
                </a:solidFill>
                <a:latin typeface="Aptos"/>
                <a:ea typeface="Aptos"/>
                <a:cs typeface="Aptos"/>
              </a:rPr>
              <a:t>Local/on-prem RAG assistant  |  02</a:t>
            </a:r>
          </a:p>
        </p:txBody>
      </p:sp>
    </p:spTree>
    <p:extLst>
      <p:ext uri="{BB962C8B-B14F-4D97-AF65-F5344CB8AC3E}">
        <p14:creationId xmlns:p14="http://schemas.microsoft.com/office/powerpoint/2010/main" val="43862414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E0A689B-255D-42C4-91EB-1644D8A83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D1992F-7D6F-47D0-8D39-CD08CFA76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2A86"/>
          </a:solidFill>
          <a:ln xmlns:a="http://schemas.openxmlformats.org/drawingml/2006/main" w="0">
            <a:solidFill>
              <a:srgbClr val="5B2A86"/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EE7C89C-90FD-4E4B-A485-FFDC2EF44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3863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187A"/>
          </a:solidFill>
          <a:ln xmlns:a="http://schemas.openxmlformats.org/drawingml/2006/main" w="0">
            <a:solidFill>
              <a:srgbClr val="C2187A"/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09F4520-0F38-4FE9-9A53-8BA45BB6C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2187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2187A"/>
                </a:solidFill>
                <a:latin typeface="Aptos"/>
                <a:ea typeface="Aptos"/>
                <a:cs typeface="Aptos"/>
              </a:rPr>
              <a:t>SOLUTION 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DD4CAF-CD5C-4532-A598-D05279B88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438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187A"/>
          </a:solidFill>
          <a:ln xmlns:a="http://schemas.openxmlformats.org/drawingml/2006/main" w="0">
            <a:solidFill>
              <a:srgbClr val="C2187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0B87B8-C19E-4364-BC33-144EF0270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9144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3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1327"/>
                </a:solidFill>
                <a:latin typeface="Aptos Display"/>
                <a:ea typeface="Aptos Display"/>
                <a:cs typeface="Aptos Display"/>
              </a:rPr>
              <a:t>The assistant grounds answers in local indexes and local model execution.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9554B5-0A36-4597-85DC-36D3E3E7B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71700"/>
            <a:ext cx="1809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FA"/>
          </a:solidFill>
          <a:ln xmlns:a="http://schemas.openxmlformats.org/drawingml/2006/main" w="9525">
            <a:solidFill>
              <a:srgbClr val="DED7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F5FAB6-9D1F-4282-83C8-03843481B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66950"/>
            <a:ext cx="1543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B2A8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B2A86"/>
                </a:solidFill>
                <a:latin typeface="Aptos"/>
                <a:ea typeface="Aptos"/>
                <a:cs typeface="Aptos"/>
              </a:rPr>
              <a:t>Official WE</a:t>
            </a:r>
          </a:p>
          <a:p xmlns:a="http://schemas.openxmlformats.org/drawingml/2006/main">
            <a:pPr algn="ctr">
              <a:defRPr sz="1350" b="1">
                <a:solidFill>
                  <a:srgbClr val="5B2A8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B2A86"/>
                </a:solidFill>
                <a:latin typeface="Aptos"/>
                <a:ea typeface="Aptos"/>
                <a:cs typeface="Aptos"/>
              </a:rPr>
              <a:t>knowledge base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7D0995-E99E-4370-A223-F2CC0604E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14750"/>
            <a:ext cx="1809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FA"/>
          </a:solidFill>
          <a:ln xmlns:a="http://schemas.openxmlformats.org/drawingml/2006/main" w="9525">
            <a:solidFill>
              <a:srgbClr val="DED7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B67990-FCC3-453C-9348-ABF31663A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1543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8CA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08CA8"/>
                </a:solidFill>
                <a:latin typeface="Aptos"/>
                <a:ea typeface="Aptos"/>
                <a:cs typeface="Aptos"/>
              </a:rPr>
              <a:t>Uploaded</a:t>
            </a:r>
          </a:p>
          <a:p xmlns:a="http://schemas.openxmlformats.org/drawingml/2006/main">
            <a:pPr algn="ctr">
              <a:defRPr sz="1350" b="1">
                <a:solidFill>
                  <a:srgbClr val="008CA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08CA8"/>
                </a:solidFill>
                <a:latin typeface="Aptos"/>
                <a:ea typeface="Aptos"/>
                <a:cs typeface="Aptos"/>
              </a:rPr>
              <a:t>documents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FB2256-2E56-4FA4-A36F-B2D114D80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143250"/>
            <a:ext cx="419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5B2A86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5B2A86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514C87-96BA-48F9-A699-DA094FAC1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209800"/>
            <a:ext cx="24765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B2A8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89B197-018D-49F9-9E83-F6ED3E60A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552700"/>
            <a:ext cx="1809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5B2A86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5B2A86"/>
                </a:solidFill>
                <a:latin typeface="Aptos"/>
                <a:ea typeface="Aptos"/>
                <a:cs typeface="Aptos"/>
              </a:rPr>
              <a:t>Hybrid retrieval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CF9B12-FA0A-481A-8AE4-2D1C7E599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105150"/>
            <a:ext cx="1809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13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1327"/>
                </a:solidFill>
                <a:latin typeface="Aptos"/>
                <a:ea typeface="Aptos"/>
                <a:cs typeface="Aptos"/>
              </a:rPr>
              <a:t>Dense Qdrant + sparse BM25</a:t>
            </a:r>
          </a:p>
          <a:p xmlns:a="http://schemas.openxmlformats.org/drawingml/2006/main">
            <a:pPr algn="ctr">
              <a:defRPr sz="1500" b="0">
                <a:solidFill>
                  <a:srgbClr val="1713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1327"/>
                </a:solidFill>
                <a:latin typeface="Aptos"/>
                <a:ea typeface="Aptos"/>
                <a:cs typeface="Aptos"/>
              </a:rPr>
              <a:t>RRF fusion</a:t>
            </a:r>
          </a:p>
          <a:p xmlns:a="http://schemas.openxmlformats.org/drawingml/2006/main">
            <a:pPr algn="ctr">
              <a:defRPr sz="1500" b="0">
                <a:solidFill>
                  <a:srgbClr val="1713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1327"/>
                </a:solidFill>
                <a:latin typeface="Aptos"/>
                <a:ea typeface="Aptos"/>
                <a:cs typeface="Aptos"/>
              </a:rPr>
              <a:t>Optional reranker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9F5CA2-78E0-40EC-9639-ECB5FB9CC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43250"/>
            <a:ext cx="419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5B2A86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5B2A86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2C2142-606A-4CC4-8CCE-0B673B44C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476500"/>
            <a:ext cx="20002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FA"/>
          </a:solidFill>
          <a:ln xmlns:a="http://schemas.openxmlformats.org/drawingml/2006/main" w="9525">
            <a:solidFill>
              <a:srgbClr val="DED7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1D9E14-12EF-44F5-9E3E-368DD8CDB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571750"/>
            <a:ext cx="17335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E7D5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E7D55"/>
                </a:solidFill>
                <a:latin typeface="Aptos"/>
                <a:ea typeface="Aptos"/>
                <a:cs typeface="Aptos"/>
              </a:rPr>
              <a:t>Grounded</a:t>
            </a:r>
          </a:p>
          <a:p xmlns:a="http://schemas.openxmlformats.org/drawingml/2006/main">
            <a:pPr algn="ctr">
              <a:defRPr sz="1350" b="1">
                <a:solidFill>
                  <a:srgbClr val="1E7D5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E7D55"/>
                </a:solidFill>
                <a:latin typeface="Aptos"/>
                <a:ea typeface="Aptos"/>
                <a:cs typeface="Aptos"/>
              </a:rPr>
              <a:t>answers with</a:t>
            </a:r>
          </a:p>
          <a:p xmlns:a="http://schemas.openxmlformats.org/drawingml/2006/main">
            <a:pPr algn="ctr">
              <a:defRPr sz="1350" b="1">
                <a:solidFill>
                  <a:srgbClr val="1E7D5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E7D55"/>
                </a:solidFill>
                <a:latin typeface="Aptos"/>
                <a:ea typeface="Aptos"/>
                <a:cs typeface="Aptos"/>
              </a:rPr>
              <a:t>citations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F6C09B-34CA-43AC-9979-AF42FABA2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143250"/>
            <a:ext cx="419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5B2A86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5B2A86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BF69D1-A917-49BA-8C10-5E5576691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362200"/>
            <a:ext cx="1714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FA"/>
          </a:solidFill>
          <a:ln xmlns:a="http://schemas.openxmlformats.org/drawingml/2006/main" w="9525">
            <a:solidFill>
              <a:srgbClr val="DED7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3F22DE-328D-4721-97E3-B0C1D8E52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457450"/>
            <a:ext cx="14478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2187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2187A"/>
                </a:solidFill>
                <a:latin typeface="Aptos"/>
                <a:ea typeface="Aptos"/>
                <a:cs typeface="Aptos"/>
              </a:rPr>
              <a:t>Streamlit UI</a:t>
            </a:r>
          </a:p>
          <a:p xmlns:a="http://schemas.openxmlformats.org/drawingml/2006/main">
            <a:pPr algn="ctr">
              <a:defRPr sz="1350" b="1">
                <a:solidFill>
                  <a:srgbClr val="C2187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2187A"/>
                </a:solidFill>
                <a:latin typeface="Aptos"/>
                <a:ea typeface="Aptos"/>
                <a:cs typeface="Aptos"/>
              </a:rPr>
              <a:t>+</a:t>
            </a:r>
          </a:p>
          <a:p xmlns:a="http://schemas.openxmlformats.org/drawingml/2006/main">
            <a:pPr algn="ctr">
              <a:defRPr sz="1350" b="1">
                <a:solidFill>
                  <a:srgbClr val="C2187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2187A"/>
                </a:solidFill>
                <a:latin typeface="Aptos"/>
                <a:ea typeface="Aptos"/>
                <a:cs typeface="Aptos"/>
              </a:rPr>
              <a:t>Prometheus/Grafana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8DF466-9DFB-48D3-BE47-DFA053BD1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334000"/>
            <a:ext cx="9658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132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1327"/>
                </a:solidFill>
                <a:latin typeface="Aptos"/>
                <a:ea typeface="Aptos"/>
                <a:cs typeface="Aptos"/>
              </a:rPr>
              <a:t>Everything runs inside the local/on-prem environment: user queries, uploaded files, indexes, models, and monitoring.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4F0D78-D2FC-4CAF-AD76-9C90263C9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77000"/>
            <a:ext cx="2781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8A8198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A8198"/>
                </a:solidFill>
                <a:latin typeface="Aptos"/>
                <a:ea typeface="Aptos"/>
                <a:cs typeface="Aptos"/>
              </a:rPr>
              <a:t>Local/on-prem RAG assistant  |  03</a:t>
            </a:r>
          </a:p>
        </p:txBody>
      </p:sp>
    </p:spTree>
    <p:extLst>
      <p:ext uri="{BB962C8B-B14F-4D97-AF65-F5344CB8AC3E}">
        <p14:creationId xmlns:p14="http://schemas.microsoft.com/office/powerpoint/2010/main" val="134438458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3C34424-8B23-4026-9F80-20F5CFF40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20B973-FFE8-4CA0-8CA0-A8C5B04F0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2A86"/>
          </a:solidFill>
          <a:ln xmlns:a="http://schemas.openxmlformats.org/drawingml/2006/main" w="0">
            <a:solidFill>
              <a:srgbClr val="5B2A86"/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B7EE99F0-CAEC-4183-9639-19D0CB1CE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3863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187A"/>
          </a:solidFill>
          <a:ln xmlns:a="http://schemas.openxmlformats.org/drawingml/2006/main" w="0">
            <a:solidFill>
              <a:srgbClr val="C2187A"/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8D4E3DE-E051-4BC5-851D-F92EF6A7D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2187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2187A"/>
                </a:solidFill>
                <a:latin typeface="Aptos"/>
                <a:ea typeface="Aptos"/>
                <a:cs typeface="Aptos"/>
              </a:rPr>
              <a:t>END-TO-END ARCHITECTURE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236D99-B1D7-4D2C-94D8-145801C03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438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187A"/>
          </a:solidFill>
          <a:ln xmlns:a="http://schemas.openxmlformats.org/drawingml/2006/main" w="0">
            <a:solidFill>
              <a:srgbClr val="C2187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B2FFA0-8965-46FD-B798-B44E68768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9144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3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1327"/>
                </a:solidFill>
                <a:latin typeface="Aptos Display"/>
                <a:ea typeface="Aptos Display"/>
                <a:cs typeface="Aptos Display"/>
              </a:rPr>
              <a:t>The answer path stays local from interface to citations.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7D7193-2246-4D79-A390-3C22037C7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857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FA"/>
          </a:solidFill>
          <a:ln xmlns:a="http://schemas.openxmlformats.org/drawingml/2006/main" w="9525">
            <a:solidFill>
              <a:srgbClr val="DED7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9ACD8C-C235-4B76-9F41-FB2CDD387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5905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B2A8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B2A86"/>
                </a:solidFill>
                <a:latin typeface="Aptos"/>
                <a:ea typeface="Aptos"/>
                <a:cs typeface="Aptos"/>
              </a:rPr>
              <a:t>User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095EAF-1797-44AB-8C8A-6D181271A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457450"/>
            <a:ext cx="266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5B2A86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5B2A86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D99F0C-F4C3-47F9-8C3F-F97511DE7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47900"/>
            <a:ext cx="857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7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C52301-3421-403E-A2CB-9D308D34F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343150"/>
            <a:ext cx="5905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B2A8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B2A86"/>
                </a:solidFill>
                <a:latin typeface="Aptos"/>
                <a:ea typeface="Aptos"/>
                <a:cs typeface="Aptos"/>
              </a:rPr>
              <a:t>Streamlit</a:t>
            </a:r>
          </a:p>
          <a:p xmlns:a="http://schemas.openxmlformats.org/drawingml/2006/main">
            <a:pPr algn="ctr">
              <a:defRPr sz="1050" b="1">
                <a:solidFill>
                  <a:srgbClr val="5B2A8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B2A86"/>
                </a:solidFill>
                <a:latin typeface="Aptos"/>
                <a:ea typeface="Aptos"/>
                <a:cs typeface="Aptos"/>
              </a:rPr>
              <a:t>UI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AEFB1F-7ABE-4553-9C18-AF8ABE087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457450"/>
            <a:ext cx="266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5B2A86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5B2A86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6D5ABB-5A2A-4237-9F72-ADD3DA442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247900"/>
            <a:ext cx="857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FA"/>
          </a:solidFill>
          <a:ln xmlns:a="http://schemas.openxmlformats.org/drawingml/2006/main" w="9525">
            <a:solidFill>
              <a:srgbClr val="DED7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ACC9C5-E3C1-4EC7-9942-3A02DD279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343150"/>
            <a:ext cx="5905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B2A8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B2A86"/>
                </a:solidFill>
                <a:latin typeface="Aptos"/>
                <a:ea typeface="Aptos"/>
                <a:cs typeface="Aptos"/>
              </a:rPr>
              <a:t>Query</a:t>
            </a:r>
          </a:p>
          <a:p xmlns:a="http://schemas.openxmlformats.org/drawingml/2006/main">
            <a:pPr algn="ctr">
              <a:defRPr sz="1050" b="1">
                <a:solidFill>
                  <a:srgbClr val="5B2A8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B2A86"/>
                </a:solidFill>
                <a:latin typeface="Aptos"/>
                <a:ea typeface="Aptos"/>
                <a:cs typeface="Aptos"/>
              </a:rPr>
              <a:t>Router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D68F0D-B774-4588-BCB1-CB46AA9B4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457450"/>
            <a:ext cx="266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5B2A86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5B2A86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FF2125-25C2-4BBE-9643-9BF8ED550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247900"/>
            <a:ext cx="857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7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DD3A6D-7913-4F19-B815-6D3D3955F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343150"/>
            <a:ext cx="5905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B2A8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B2A86"/>
                </a:solidFill>
                <a:latin typeface="Aptos"/>
                <a:ea typeface="Aptos"/>
                <a:cs typeface="Aptos"/>
              </a:rPr>
              <a:t>Hybrid</a:t>
            </a:r>
          </a:p>
          <a:p xmlns:a="http://schemas.openxmlformats.org/drawingml/2006/main">
            <a:pPr algn="ctr">
              <a:defRPr sz="1050" b="1">
                <a:solidFill>
                  <a:srgbClr val="5B2A8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B2A86"/>
                </a:solidFill>
                <a:latin typeface="Aptos"/>
                <a:ea typeface="Aptos"/>
                <a:cs typeface="Aptos"/>
              </a:rPr>
              <a:t>Retriever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1E3A6B-ED5E-4CE0-9661-7CDA53513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457450"/>
            <a:ext cx="266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5B2A86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5B2A86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941477-9EE7-44B2-92B3-41999C11F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247900"/>
            <a:ext cx="857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FA"/>
          </a:solidFill>
          <a:ln xmlns:a="http://schemas.openxmlformats.org/drawingml/2006/main" w="9525">
            <a:solidFill>
              <a:srgbClr val="DED7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8602F0-F9A2-446B-A6B0-A4D0253EE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343150"/>
            <a:ext cx="5905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B2A8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B2A86"/>
                </a:solidFill>
                <a:latin typeface="Aptos"/>
                <a:ea typeface="Aptos"/>
                <a:cs typeface="Aptos"/>
              </a:rPr>
              <a:t>Qdrant</a:t>
            </a:r>
          </a:p>
          <a:p xmlns:a="http://schemas.openxmlformats.org/drawingml/2006/main">
            <a:pPr algn="ctr">
              <a:defRPr sz="1050" b="1">
                <a:solidFill>
                  <a:srgbClr val="5B2A8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B2A86"/>
                </a:solidFill>
                <a:latin typeface="Aptos"/>
                <a:ea typeface="Aptos"/>
                <a:cs typeface="Aptos"/>
              </a:rPr>
              <a:t>+ BM25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2ABB2A-BBB8-46B4-9614-EE15E2FB2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457450"/>
            <a:ext cx="266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5B2A86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5B2A86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497E8E-27B0-4C74-995C-1C96DD73E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247900"/>
            <a:ext cx="857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7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520D28-D382-48B8-854D-66B0E5E20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343150"/>
            <a:ext cx="5905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B2A8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B2A86"/>
                </a:solidFill>
                <a:latin typeface="Aptos"/>
                <a:ea typeface="Aptos"/>
                <a:cs typeface="Aptos"/>
              </a:rPr>
              <a:t>Optional</a:t>
            </a:r>
          </a:p>
          <a:p xmlns:a="http://schemas.openxmlformats.org/drawingml/2006/main">
            <a:pPr algn="ctr">
              <a:defRPr sz="1050" b="1">
                <a:solidFill>
                  <a:srgbClr val="5B2A8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B2A86"/>
                </a:solidFill>
                <a:latin typeface="Aptos"/>
                <a:ea typeface="Aptos"/>
                <a:cs typeface="Aptos"/>
              </a:rPr>
              <a:t>Reranker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F11AF5-D94C-4D47-8595-7035D012F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457450"/>
            <a:ext cx="266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5B2A86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5B2A86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3E2CBD-E1AA-4225-A685-4882ACE31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47900"/>
            <a:ext cx="857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FA"/>
          </a:solidFill>
          <a:ln xmlns:a="http://schemas.openxmlformats.org/drawingml/2006/main" w="9525">
            <a:solidFill>
              <a:srgbClr val="DED7E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26049C5-A2A8-430F-8D04-C9AA1A29D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43150"/>
            <a:ext cx="5905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B2A8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B2A86"/>
                </a:solidFill>
                <a:latin typeface="Aptos"/>
                <a:ea typeface="Aptos"/>
                <a:cs typeface="Aptos"/>
              </a:rPr>
              <a:t>Answer</a:t>
            </a:r>
          </a:p>
          <a:p xmlns:a="http://schemas.openxmlformats.org/drawingml/2006/main">
            <a:pPr algn="ctr">
              <a:defRPr sz="1050" b="1">
                <a:solidFill>
                  <a:srgbClr val="5B2A8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B2A86"/>
                </a:solidFill>
                <a:latin typeface="Aptos"/>
                <a:ea typeface="Aptos"/>
                <a:cs typeface="Aptos"/>
              </a:rPr>
              <a:t>Generator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94E22AB-8174-4452-8F67-B23A63910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457450"/>
            <a:ext cx="266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5B2A86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5B2A86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41F779C-9D1E-4074-A6CB-4D69602F9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247900"/>
            <a:ext cx="857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7E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2DF5C8-A1AD-4662-BBCD-382AE4E71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343150"/>
            <a:ext cx="5905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2187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2187A"/>
                </a:solidFill>
                <a:latin typeface="Aptos"/>
                <a:ea typeface="Aptos"/>
                <a:cs typeface="Aptos"/>
              </a:rPr>
              <a:t>Ollama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2642FBD-9CB3-405D-AE4F-3625AA801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810000"/>
            <a:ext cx="1200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FA"/>
          </a:solidFill>
          <a:ln xmlns:a="http://schemas.openxmlformats.org/drawingml/2006/main" w="9525">
            <a:solidFill>
              <a:srgbClr val="DED7E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2D62C03-0158-48F7-983F-E0BE798C0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905250"/>
            <a:ext cx="933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E7D5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E7D55"/>
                </a:solidFill>
                <a:latin typeface="Aptos"/>
                <a:ea typeface="Aptos"/>
                <a:cs typeface="Aptos"/>
              </a:rPr>
              <a:t>Answer with</a:t>
            </a:r>
          </a:p>
          <a:p xmlns:a="http://schemas.openxmlformats.org/drawingml/2006/main">
            <a:pPr algn="ctr">
              <a:defRPr sz="1350" b="1">
                <a:solidFill>
                  <a:srgbClr val="1E7D5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E7D55"/>
                </a:solidFill>
                <a:latin typeface="Aptos"/>
                <a:ea typeface="Aptos"/>
                <a:cs typeface="Aptos"/>
              </a:rPr>
              <a:t>citations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C1FA8AE-49E3-4E84-BA68-2AFADE02D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105150"/>
            <a:ext cx="323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E7D55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E7D55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1380A9A-EC7D-4B9F-93EF-B0195BCFD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95750"/>
            <a:ext cx="32956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D"/>
          </a:solidFill>
          <a:ln xmlns:a="http://schemas.openxmlformats.org/drawingml/2006/main" w="9525">
            <a:solidFill>
              <a:srgbClr val="DED7E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44D7EAB-5652-4091-9299-98B562BFA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672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8CA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8CA8"/>
                </a:solidFill>
                <a:latin typeface="Aptos"/>
                <a:ea typeface="Aptos"/>
                <a:cs typeface="Aptos"/>
              </a:rPr>
              <a:t>Uploaded documents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476B21D-E730-4BF3-8BBC-DFF43780E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33900"/>
            <a:ext cx="2724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587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5870"/>
                </a:solidFill>
                <a:latin typeface="Aptos"/>
                <a:ea typeface="Aptos"/>
                <a:cs typeface="Aptos"/>
              </a:rPr>
              <a:t>Docling/OCR extracts PDF, DOCX, TXT, HTML, images, and screenshots locally.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351DD71-01C6-40CA-A06B-424333D57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095750"/>
            <a:ext cx="32956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D"/>
          </a:solidFill>
          <a:ln xmlns:a="http://schemas.openxmlformats.org/drawingml/2006/main" w="9525">
            <a:solidFill>
              <a:srgbClr val="DED7E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F9567ED-ECAA-46A6-86B2-27521AC2D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2672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2187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C2187A"/>
                </a:solidFill>
                <a:latin typeface="Aptos"/>
                <a:ea typeface="Aptos"/>
                <a:cs typeface="Aptos"/>
              </a:rPr>
              <a:t>Local monitoring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6BF0A81-31A0-4E3D-B7B1-2FEBAEE14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533900"/>
            <a:ext cx="2724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587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5870"/>
                </a:solidFill>
                <a:latin typeface="Aptos"/>
                <a:ea typeface="Aptos"/>
                <a:cs typeface="Aptos"/>
              </a:rPr>
              <a:t>Prometheus and Grafana track latency, errors, fallbacks, reranking, and citation quality.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8FCE0E2-0FD3-49F4-A6B4-6249B1496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2187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2187A"/>
                </a:solidFill>
                <a:latin typeface="Aptos"/>
                <a:ea typeface="Aptos"/>
                <a:cs typeface="Aptos"/>
              </a:rPr>
              <a:t>Local machine / on-prem server boundary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26DC521-3815-4444-99CC-46EAB0016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11029950" cy="3219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ED7E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82F91A9-8C5C-42A0-B692-9D17BB6FC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77000"/>
            <a:ext cx="2781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8A8198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A8198"/>
                </a:solidFill>
                <a:latin typeface="Aptos"/>
                <a:ea typeface="Aptos"/>
                <a:cs typeface="Aptos"/>
              </a:rPr>
              <a:t>Local/on-prem RAG assistant  |  04</a:t>
            </a:r>
          </a:p>
        </p:txBody>
      </p:sp>
    </p:spTree>
    <p:extLst>
      <p:ext uri="{BB962C8B-B14F-4D97-AF65-F5344CB8AC3E}">
        <p14:creationId xmlns:p14="http://schemas.microsoft.com/office/powerpoint/2010/main" val="104807703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77E031E-AFCC-48B4-8F8A-1F25BD76D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929C95-0C77-4B94-87A6-8EF1C5820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2A86"/>
          </a:solidFill>
          <a:ln xmlns:a="http://schemas.openxmlformats.org/drawingml/2006/main" w="0">
            <a:solidFill>
              <a:srgbClr val="5B2A86"/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80B4214D-BF52-48C1-919A-7647074F7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3863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187A"/>
          </a:solidFill>
          <a:ln xmlns:a="http://schemas.openxmlformats.org/drawingml/2006/main" w="0">
            <a:solidFill>
              <a:srgbClr val="C2187A"/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6D6F16D-299D-4642-BBDA-713A8913D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2187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2187A"/>
                </a:solidFill>
                <a:latin typeface="Aptos"/>
                <a:ea typeface="Aptos"/>
                <a:cs typeface="Aptos"/>
              </a:rPr>
              <a:t>DATA PIPELINE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14850D-118D-48F0-908B-00CA8400E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438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187A"/>
          </a:solidFill>
          <a:ln xmlns:a="http://schemas.openxmlformats.org/drawingml/2006/main" w="0">
            <a:solidFill>
              <a:srgbClr val="C2187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45FFFF-21D4-44DD-B028-9796B0262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9144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3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1327"/>
                </a:solidFill>
                <a:latin typeface="Aptos Display"/>
                <a:ea typeface="Aptos Display"/>
                <a:cs typeface="Aptos Display"/>
              </a:rPr>
              <a:t>Scraped WE content becomes a unified local knowledge base.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850C54-C476-41F7-A27A-7EB64419A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13525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7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986E07-8AE8-4D1C-ABA7-222B40EDA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28875"/>
            <a:ext cx="10858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B2A8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B2A86"/>
                </a:solidFill>
                <a:latin typeface="Aptos"/>
                <a:ea typeface="Aptos"/>
                <a:cs typeface="Aptos"/>
              </a:rPr>
              <a:t>Scraping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9FF35F-39A4-4B58-979B-5A045622E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552700"/>
            <a:ext cx="228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5B2A86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5B2A86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111028-77C7-4EE9-94C5-0A485A725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333625"/>
            <a:ext cx="13525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7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3904CB-4B13-4F96-9D88-4C6CECF48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428875"/>
            <a:ext cx="10858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B2A8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B2A86"/>
                </a:solidFill>
                <a:latin typeface="Aptos"/>
                <a:ea typeface="Aptos"/>
                <a:cs typeface="Aptos"/>
              </a:rPr>
              <a:t>Post-processing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F91A6F-B9D3-4AD0-8E83-F3086D3EC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552700"/>
            <a:ext cx="228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5B2A86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5B2A86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720297-9F96-4D81-97FB-4255A6B1A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33625"/>
            <a:ext cx="13525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7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EE7E44-AC68-4D3C-9874-3285663E7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28875"/>
            <a:ext cx="10858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B2A8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B2A86"/>
                </a:solidFill>
                <a:latin typeface="Aptos"/>
                <a:ea typeface="Aptos"/>
                <a:cs typeface="Aptos"/>
              </a:rPr>
              <a:t>Unified KB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89C9C0-153E-49A4-9C68-3E7223E1C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552700"/>
            <a:ext cx="228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5B2A86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5B2A86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B94AA8-ECCB-4003-B4A4-22FCD49D9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33625"/>
            <a:ext cx="13525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7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BAB02C-AE54-4C10-98B0-93DCB53F7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28875"/>
            <a:ext cx="10858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B2A8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B2A86"/>
                </a:solidFill>
                <a:latin typeface="Aptos"/>
                <a:ea typeface="Aptos"/>
                <a:cs typeface="Aptos"/>
              </a:rPr>
              <a:t>Chunking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B692CA-6F05-4AC3-8FEC-FB4F79BA9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552700"/>
            <a:ext cx="228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5B2A86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5B2A86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91A5E1-278E-4EA5-86FB-AC41E33C6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33625"/>
            <a:ext cx="13525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7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8B02C0-5B95-4DD2-A0D9-B219A1211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428875"/>
            <a:ext cx="10858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B2A8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B2A86"/>
                </a:solidFill>
                <a:latin typeface="Aptos"/>
                <a:ea typeface="Aptos"/>
                <a:cs typeface="Aptos"/>
              </a:rPr>
              <a:t>Embeddings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E1AD12-71FC-420A-9BE2-7976D5DA9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552700"/>
            <a:ext cx="228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5B2A86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5B2A86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99B0FF-82DE-4825-B0CC-9EB13B7FB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333625"/>
            <a:ext cx="1581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FA"/>
          </a:solidFill>
          <a:ln xmlns:a="http://schemas.openxmlformats.org/drawingml/2006/main" w="9525">
            <a:solidFill>
              <a:srgbClr val="DED7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5C4C82-E1E4-410B-AE30-F653914B1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428875"/>
            <a:ext cx="1314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2187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2187A"/>
                </a:solidFill>
                <a:latin typeface="Aptos"/>
                <a:ea typeface="Aptos"/>
                <a:cs typeface="Aptos"/>
              </a:rPr>
              <a:t>Qdrant Index</a:t>
            </a:r>
          </a:p>
          <a:p xmlns:a="http://schemas.openxmlformats.org/drawingml/2006/main">
            <a:pPr algn="ctr">
              <a:defRPr sz="975" b="1">
                <a:solidFill>
                  <a:srgbClr val="C2187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2187A"/>
                </a:solidFill>
                <a:latin typeface="Aptos"/>
                <a:ea typeface="Aptos"/>
                <a:cs typeface="Aptos"/>
              </a:rPr>
              <a:t>+ BM25 Index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B8B42D-879C-4E9E-B05A-7A08A4678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38600"/>
            <a:ext cx="45339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D"/>
          </a:solidFill>
          <a:ln xmlns:a="http://schemas.openxmlformats.org/drawingml/2006/main" w="9525">
            <a:solidFill>
              <a:srgbClr val="DED7E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B8139D-587D-453E-9B6D-5AECB07C8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6720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2187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C2187A"/>
                </a:solidFill>
                <a:latin typeface="Aptos"/>
                <a:ea typeface="Aptos"/>
                <a:cs typeface="Aptos"/>
              </a:rPr>
              <a:t>Current categories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06F809-3816-41AD-9571-68B3426C8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629150"/>
            <a:ext cx="371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1327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71327"/>
                </a:solidFill>
                <a:latin typeface="Aptos"/>
                <a:ea typeface="Aptos"/>
                <a:cs typeface="Aptos"/>
              </a:rPr>
              <a:t>FAQ  |  Devices  |  Services  |  WE Home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6BFA8F-0EF5-4CD8-9B83-D582AF327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38600"/>
            <a:ext cx="45339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D"/>
          </a:solidFill>
          <a:ln xmlns:a="http://schemas.openxmlformats.org/drawingml/2006/main" w="9525">
            <a:solidFill>
              <a:srgbClr val="DED7E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8F4797A-0013-445D-A240-F4B1EE0B7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26720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8CA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8CA8"/>
                </a:solidFill>
                <a:latin typeface="Aptos"/>
                <a:ea typeface="Aptos"/>
                <a:cs typeface="Aptos"/>
              </a:rPr>
              <a:t>Expansion path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78A37E1-EB08-4192-8DF5-18653AE95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629150"/>
            <a:ext cx="3695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3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1327"/>
                </a:solidFill>
                <a:latin typeface="Aptos"/>
                <a:ea typeface="Aptos"/>
                <a:cs typeface="Aptos"/>
              </a:rPr>
              <a:t>More categories can be added through config/kb_sources.yaml.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97FC9F2-3FC0-4777-B8CA-06AB28995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77000"/>
            <a:ext cx="2781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8A8198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A8198"/>
                </a:solidFill>
                <a:latin typeface="Aptos"/>
                <a:ea typeface="Aptos"/>
                <a:cs typeface="Aptos"/>
              </a:rPr>
              <a:t>Local/on-prem RAG assistant  |  05</a:t>
            </a:r>
          </a:p>
        </p:txBody>
      </p:sp>
    </p:spTree>
    <p:extLst>
      <p:ext uri="{BB962C8B-B14F-4D97-AF65-F5344CB8AC3E}">
        <p14:creationId xmlns:p14="http://schemas.microsoft.com/office/powerpoint/2010/main" val="14372526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06F3051-DC90-4916-B8FF-689618003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B784FC-2CC8-4B4E-8A91-1D3680A27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2A86"/>
          </a:solidFill>
          <a:ln xmlns:a="http://schemas.openxmlformats.org/drawingml/2006/main" w="0">
            <a:solidFill>
              <a:srgbClr val="5B2A86"/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129D290F-D5FF-4297-A3EB-B38647579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3863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187A"/>
          </a:solidFill>
          <a:ln xmlns:a="http://schemas.openxmlformats.org/drawingml/2006/main" w="0">
            <a:solidFill>
              <a:srgbClr val="C2187A"/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B5135239-C94A-4FBE-BCA2-CB350F05F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2187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2187A"/>
                </a:solidFill>
                <a:latin typeface="Aptos"/>
                <a:ea typeface="Aptos"/>
                <a:cs typeface="Aptos"/>
              </a:rPr>
              <a:t>HYBRID RETRIEVAL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B76CA0-EB32-41CA-AE9C-29802BAE6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438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187A"/>
          </a:solidFill>
          <a:ln xmlns:a="http://schemas.openxmlformats.org/drawingml/2006/main" w="0">
            <a:solidFill>
              <a:srgbClr val="C2187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99FB22-DC25-424E-B44C-1856FEEB1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9144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3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1327"/>
                </a:solidFill>
                <a:latin typeface="Aptos Display"/>
                <a:ea typeface="Aptos Display"/>
                <a:cs typeface="Aptos Display"/>
              </a:rPr>
              <a:t>Dense semantics and exact matching cover different failure modes.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7571C3-FF8D-4F45-B4A8-8DF7C901A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3048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7EA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63a349a2a8472e">
            <a:extLst>
              <a:ext uri="{96DAC541-7B7A-43D3-8B79-37D633B846F1}">
                <asvg:svgBlip xmlns:asvg="http://schemas.microsoft.com/office/drawing/2016/SVG/main" r:embed="R63fd06846a1347e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14400" y="22669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9C6B65-D30B-4790-829A-32A848849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247900"/>
            <a:ext cx="2305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3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1327"/>
                </a:solidFill>
                <a:latin typeface="Aptos"/>
                <a:ea typeface="Aptos"/>
                <a:cs typeface="Aptos"/>
              </a:rPr>
              <a:t>Dense retrieval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1CE857-999E-4B3C-8BA2-A51C0E2DB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552700"/>
            <a:ext cx="2305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587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5870"/>
                </a:solidFill>
                <a:latin typeface="Aptos"/>
                <a:ea typeface="Aptos"/>
                <a:cs typeface="Aptos"/>
              </a:rPr>
              <a:t>Qdrant finds semantically similar WE service chunks.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284DCB-119F-4905-8688-E0698F09F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95500"/>
            <a:ext cx="3048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7EA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98f189719b4d95">
            <a:extLst>
              <a:ext uri="{96DAC541-7B7A-43D3-8B79-37D633B846F1}">
                <asvg:svgBlip xmlns:asvg="http://schemas.microsoft.com/office/drawing/2016/SVG/main" r:embed="R09fbb6d9efb2416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743450" y="22669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94C4C3-9309-4C8B-BB19-031677038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247900"/>
            <a:ext cx="2305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3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1327"/>
                </a:solidFill>
                <a:latin typeface="Aptos"/>
                <a:ea typeface="Aptos"/>
                <a:cs typeface="Aptos"/>
              </a:rPr>
              <a:t>Sparse retrieval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606C24-245F-4194-BC92-02B3BB727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552700"/>
            <a:ext cx="2305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587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5870"/>
                </a:solidFill>
                <a:latin typeface="Aptos"/>
                <a:ea typeface="Aptos"/>
                <a:cs typeface="Aptos"/>
              </a:rPr>
              <a:t>BM25 preserves exact codes, prices, package names, and keywords.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DF6F0F-78AD-4B77-9619-A37EF5A25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095500"/>
            <a:ext cx="3048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7EA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02f5c2065b4e3f">
            <a:extLst>
              <a:ext uri="{96DAC541-7B7A-43D3-8B79-37D633B846F1}">
                <asvg:svgBlip xmlns:asvg="http://schemas.microsoft.com/office/drawing/2016/SVG/main" r:embed="Re2438049c593498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572500" y="22669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F5D218-A1AD-4A03-BE2E-49A00D268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247900"/>
            <a:ext cx="2305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3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1327"/>
                </a:solidFill>
                <a:latin typeface="Aptos"/>
                <a:ea typeface="Aptos"/>
                <a:cs typeface="Aptos"/>
              </a:rPr>
              <a:t>RRF fusion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D0B767-C64A-47C7-9D94-F302A8F3E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552700"/>
            <a:ext cx="2305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587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5870"/>
                </a:solidFill>
                <a:latin typeface="Aptos"/>
                <a:ea typeface="Aptos"/>
                <a:cs typeface="Aptos"/>
              </a:rPr>
              <a:t>Reciprocal Rank Fusion combines both result lists before generation.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9A8E90-7B96-4837-A3BE-9FE2677D8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05300"/>
            <a:ext cx="94869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FA"/>
          </a:solidFill>
          <a:ln xmlns:a="http://schemas.openxmlformats.org/drawingml/2006/main" w="9525">
            <a:solidFill>
              <a:srgbClr val="DED7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E0FBDE-F246-4569-A6F8-332EF5354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514850"/>
            <a:ext cx="2762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2187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2187A"/>
                </a:solidFill>
                <a:latin typeface="Aptos"/>
                <a:ea typeface="Aptos"/>
                <a:cs typeface="Aptos"/>
              </a:rPr>
              <a:t>Exact terms the retriever must respect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D35FD1-EAE8-4C33-91B9-8967321A5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838700"/>
            <a:ext cx="857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1327"/>
                </a:solidFill>
                <a:latin typeface="Aptos Mono"/>
                <a:ea typeface="Aptos Mono"/>
                <a:cs typeface="Aptos Mono"/>
              </a:defRPr>
            </a:pPr>
            <a:r>
              <a:rPr sz="2100" b="1">
                <a:solidFill>
                  <a:srgbClr val="171327"/>
                </a:solidFill>
                <a:latin typeface="Aptos Mono"/>
                <a:ea typeface="Aptos Mono"/>
                <a:cs typeface="Aptos Mono"/>
              </a:rPr>
              <a:t>*550#     5 قروش     500 EGP     WE Space packages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F8CD3A-0A05-4581-8217-BBA5B2E3C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77000"/>
            <a:ext cx="2781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8A8198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A8198"/>
                </a:solidFill>
                <a:latin typeface="Aptos"/>
                <a:ea typeface="Aptos"/>
                <a:cs typeface="Aptos"/>
              </a:rPr>
              <a:t>Local/on-prem RAG assistant  |  06</a:t>
            </a:r>
          </a:p>
        </p:txBody>
      </p:sp>
    </p:spTree>
    <p:extLst>
      <p:ext uri="{BB962C8B-B14F-4D97-AF65-F5344CB8AC3E}">
        <p14:creationId xmlns:p14="http://schemas.microsoft.com/office/powerpoint/2010/main" val="200603302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52661D7-E946-43BE-9DB3-1268B2A17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5AF086-7718-46FF-AF7E-BA0FC160E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2A86"/>
          </a:solidFill>
          <a:ln xmlns:a="http://schemas.openxmlformats.org/drawingml/2006/main" w="0">
            <a:solidFill>
              <a:srgbClr val="5B2A86"/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11D227F-B868-4940-8171-F42079C25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3863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187A"/>
          </a:solidFill>
          <a:ln xmlns:a="http://schemas.openxmlformats.org/drawingml/2006/main" w="0">
            <a:solidFill>
              <a:srgbClr val="C2187A"/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9FF2E02-DBD2-4040-A03C-3C201F3B2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2187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2187A"/>
                </a:solidFill>
                <a:latin typeface="Aptos"/>
                <a:ea typeface="Aptos"/>
                <a:cs typeface="Aptos"/>
              </a:rPr>
              <a:t>RERANKING LAYER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2C9C4D-A2D9-4575-816B-110B21E1A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438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187A"/>
          </a:solidFill>
          <a:ln xmlns:a="http://schemas.openxmlformats.org/drawingml/2006/main" w="0">
            <a:solidFill>
              <a:srgbClr val="C2187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192C03-389B-432B-ADD1-AA4F5BF82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9144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3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1327"/>
                </a:solidFill>
                <a:latin typeface="Aptos Display"/>
                <a:ea typeface="Aptos Display"/>
                <a:cs typeface="Aptos Display"/>
              </a:rPr>
              <a:t>A lightweight precision step is available when retrieval returns similar chunks.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5F73C4-419D-499C-A29E-CCA229285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76500"/>
            <a:ext cx="2095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7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482FFE-3EAB-44B6-92D6-C105B4454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571750"/>
            <a:ext cx="1828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B2A8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B2A86"/>
                </a:solidFill>
                <a:latin typeface="Aptos"/>
                <a:ea typeface="Aptos"/>
                <a:cs typeface="Aptos"/>
              </a:rPr>
              <a:t>Hybrid candidate set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847F0A-8FE7-4730-AC75-B4885B76C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686050"/>
            <a:ext cx="400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5B2A86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5B2A86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B65E04-E647-479D-BE7B-8F87E4B2D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343150"/>
            <a:ext cx="31051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FA"/>
          </a:solidFill>
          <a:ln xmlns:a="http://schemas.openxmlformats.org/drawingml/2006/main" w="9525">
            <a:solidFill>
              <a:srgbClr val="DED7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2E1A87-E3FF-4E73-984D-49AF8C30E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438400"/>
            <a:ext cx="28384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C2187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C2187A"/>
                </a:solidFill>
                <a:latin typeface="Aptos"/>
                <a:ea typeface="Aptos"/>
                <a:cs typeface="Aptos"/>
              </a:rPr>
              <a:t>CrossEncoder reranker</a:t>
            </a:r>
          </a:p>
          <a:p xmlns:a="http://schemas.openxmlformats.org/drawingml/2006/main">
            <a:pPr algn="ctr">
              <a:defRPr sz="1275" b="1">
                <a:solidFill>
                  <a:srgbClr val="C2187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C2187A"/>
                </a:solidFill>
                <a:latin typeface="Aptos"/>
                <a:ea typeface="Aptos"/>
                <a:cs typeface="Aptos"/>
              </a:rPr>
              <a:t>Qwen/Qwen3-Reranker-0.6B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4D60E6-F4F1-40FE-A889-0E6614DA6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686050"/>
            <a:ext cx="400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5B2A86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5B2A86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BDAFAD-AFAB-48CB-81DE-07D48620F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76500"/>
            <a:ext cx="23050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7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189C38-AFD2-4F69-A893-8ABE261A3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71750"/>
            <a:ext cx="2038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E7D5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E7D55"/>
                </a:solidFill>
                <a:latin typeface="Aptos"/>
                <a:ea typeface="Aptos"/>
                <a:cs typeface="Aptos"/>
              </a:rPr>
              <a:t>Sharper context</a:t>
            </a:r>
          </a:p>
          <a:p xmlns:a="http://schemas.openxmlformats.org/drawingml/2006/main">
            <a:pPr algn="ctr">
              <a:defRPr sz="1350" b="1">
                <a:solidFill>
                  <a:srgbClr val="1E7D5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E7D55"/>
                </a:solidFill>
                <a:latin typeface="Aptos"/>
                <a:ea typeface="Aptos"/>
                <a:cs typeface="Aptos"/>
              </a:rPr>
              <a:t>for generation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1BA898-3830-4824-BA4F-4804AF435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210050"/>
            <a:ext cx="8286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D"/>
          </a:solidFill>
          <a:ln xmlns:a="http://schemas.openxmlformats.org/drawingml/2006/main" w="0">
            <a:solidFill>
              <a:srgbClr val="DED7EA"/>
            </a:solidFill>
            <a:prstDash val="solid"/>
          </a:ln>
        </p:spPr>
        <p:txBody>
          <a:bodyPr xmlns:a="http://schemas.openxmlformats.org/drawingml/2006/main" lIns="190500" tIns="152400" rIns="171450" bIns="15240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13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1327"/>
                </a:solidFill>
                <a:latin typeface="Aptos"/>
                <a:ea typeface="Aptos"/>
                <a:cs typeface="Aptos"/>
              </a:rPr>
              <a:t>• Improves precision when many chunks look relevant.</a:t>
            </a:r>
          </a:p>
          <a:p xmlns:a="http://schemas.openxmlformats.org/drawingml/2006/main">
            <a:pPr algn="l">
              <a:defRPr sz="1575" b="0">
                <a:solidFill>
                  <a:srgbClr val="1713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1327"/>
                </a:solidFill>
                <a:latin typeface="Aptos"/>
                <a:ea typeface="Aptos"/>
                <a:cs typeface="Aptos"/>
              </a:rPr>
              <a:t>• Useful for close package names, service variants, and document overlap.</a:t>
            </a:r>
          </a:p>
          <a:p xmlns:a="http://schemas.openxmlformats.org/drawingml/2006/main">
            <a:pPr algn="l">
              <a:defRPr sz="1575" b="0">
                <a:solidFill>
                  <a:srgbClr val="1713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1327"/>
                </a:solidFill>
                <a:latin typeface="Aptos"/>
                <a:ea typeface="Aptos"/>
                <a:cs typeface="Aptos"/>
              </a:rPr>
              <a:t>• Can be disabled for faster CPU inference.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96B8B9-A36A-43F0-A5D7-FF840969D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77000"/>
            <a:ext cx="2781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8A8198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A8198"/>
                </a:solidFill>
                <a:latin typeface="Aptos"/>
                <a:ea typeface="Aptos"/>
                <a:cs typeface="Aptos"/>
              </a:rPr>
              <a:t>Local/on-prem RAG assistant  |  07</a:t>
            </a:r>
          </a:p>
        </p:txBody>
      </p:sp>
    </p:spTree>
    <p:extLst>
      <p:ext uri="{BB962C8B-B14F-4D97-AF65-F5344CB8AC3E}">
        <p14:creationId xmlns:p14="http://schemas.microsoft.com/office/powerpoint/2010/main" val="67224772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2814860-2850-4C9E-94C0-8DDE880AB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6271E1-51FC-476E-9F00-64097C45A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2A86"/>
          </a:solidFill>
          <a:ln xmlns:a="http://schemas.openxmlformats.org/drawingml/2006/main" w="0">
            <a:solidFill>
              <a:srgbClr val="5B2A86"/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7DBD673F-2FB7-4D1F-8970-A34FE44D4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3863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187A"/>
          </a:solidFill>
          <a:ln xmlns:a="http://schemas.openxmlformats.org/drawingml/2006/main" w="0">
            <a:solidFill>
              <a:srgbClr val="C2187A"/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AFA39E1-46E4-41FB-8D15-F66E3741B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2187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2187A"/>
                </a:solidFill>
                <a:latin typeface="Aptos"/>
                <a:ea typeface="Aptos"/>
                <a:cs typeface="Aptos"/>
              </a:rPr>
              <a:t>GROUNDED ANSWER GENERATION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2706B8-F6C5-44C7-94E7-EA555F895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438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187A"/>
          </a:solidFill>
          <a:ln xmlns:a="http://schemas.openxmlformats.org/drawingml/2006/main" w="0">
            <a:solidFill>
              <a:srgbClr val="C2187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8ABBB4-23FA-46B4-9990-756F8B417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9144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3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1327"/>
                </a:solidFill>
                <a:latin typeface="Aptos Display"/>
                <a:ea typeface="Aptos Display"/>
                <a:cs typeface="Aptos Display"/>
              </a:rPr>
              <a:t>The assistant answers from retrieved sources and falls back safely.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06D5E6-5720-4856-9A05-75F14A728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312420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7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6C44B4-A18B-4BD2-A8CF-6CF1F2D82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431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B2A8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B2A86"/>
                </a:solidFill>
                <a:latin typeface="Aptos"/>
                <a:ea typeface="Aptos"/>
                <a:cs typeface="Aptos"/>
              </a:rPr>
              <a:t>Grounding rules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79EBA4-A2C6-4108-9E79-AC2BE11DB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81300"/>
            <a:ext cx="2667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0" tIns="152400" rIns="171450" bIns="15240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13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1327"/>
                </a:solidFill>
                <a:latin typeface="Aptos"/>
                <a:ea typeface="Aptos"/>
                <a:cs typeface="Aptos"/>
              </a:rPr>
              <a:t>• Use retrieved sources only.</a:t>
            </a:r>
          </a:p>
          <a:p xmlns:a="http://schemas.openxmlformats.org/drawingml/2006/main">
            <a:pPr algn="l">
              <a:defRPr sz="1275" b="0">
                <a:solidFill>
                  <a:srgbClr val="1713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1327"/>
                </a:solidFill>
                <a:latin typeface="Aptos"/>
                <a:ea typeface="Aptos"/>
                <a:cs typeface="Aptos"/>
              </a:rPr>
              <a:t>• Require citation markers like [1], [2].</a:t>
            </a:r>
          </a:p>
          <a:p xmlns:a="http://schemas.openxmlformats.org/drawingml/2006/main">
            <a:pPr algn="l">
              <a:defRPr sz="1275" b="0">
                <a:solidFill>
                  <a:srgbClr val="1713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1327"/>
                </a:solidFill>
                <a:latin typeface="Aptos"/>
                <a:ea typeface="Aptos"/>
                <a:cs typeface="Aptos"/>
              </a:rPr>
              <a:t>• Keep answer concise and user-facing.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62639F-18AB-4E2E-A557-E8539E5E3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076450"/>
            <a:ext cx="312420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FA"/>
          </a:solidFill>
          <a:ln xmlns:a="http://schemas.openxmlformats.org/drawingml/2006/main" w="9525">
            <a:solidFill>
              <a:srgbClr val="DED7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7BE0B5-F879-425B-A535-9F04C49E6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3431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2187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C2187A"/>
                </a:solidFill>
                <a:latin typeface="Aptos"/>
                <a:ea typeface="Aptos"/>
                <a:cs typeface="Aptos"/>
              </a:rPr>
              <a:t>Fallback safety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7F2FA1-876A-4396-B148-BA21355F0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781300"/>
            <a:ext cx="2667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0" tIns="152400" rIns="171450" bIns="15240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13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1327"/>
                </a:solidFill>
                <a:latin typeface="Aptos"/>
                <a:ea typeface="Aptos"/>
                <a:cs typeface="Aptos"/>
              </a:rPr>
              <a:t>• If the model omits citations, deterministic grounded fallback is used.</a:t>
            </a:r>
          </a:p>
          <a:p xmlns:a="http://schemas.openxmlformats.org/drawingml/2006/main">
            <a:pPr algn="l">
              <a:defRPr sz="1275" b="0">
                <a:solidFill>
                  <a:srgbClr val="1713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1327"/>
                </a:solidFill>
                <a:latin typeface="Aptos"/>
                <a:ea typeface="Aptos"/>
                <a:cs typeface="Aptos"/>
              </a:rPr>
              <a:t>• Fallback keeps the answer tied to visible source snippets.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46ECA0-657A-49F0-8E83-3CEB9E9A8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76450"/>
            <a:ext cx="312420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7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74B6A1-FABA-4906-9043-21100D052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3431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E7D5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E7D55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554AD7-6424-440D-8BC3-70FB61D8B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876550"/>
            <a:ext cx="24574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17132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1327"/>
                </a:solidFill>
                <a:latin typeface="Aptos"/>
                <a:ea typeface="Aptos"/>
                <a:cs typeface="Aptos"/>
              </a:rPr>
              <a:t>كود معرفة الرصيد هو *550#، ورسوم الخدمة 5 قروش. [1]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B8AB0C-5DB3-42C4-AA69-9E6CE0482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77000"/>
            <a:ext cx="2781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8A8198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A8198"/>
                </a:solidFill>
                <a:latin typeface="Aptos"/>
                <a:ea typeface="Aptos"/>
                <a:cs typeface="Aptos"/>
              </a:rPr>
              <a:t>Local/on-prem RAG assistant  |  08</a:t>
            </a:r>
          </a:p>
        </p:txBody>
      </p:sp>
    </p:spTree>
    <p:extLst>
      <p:ext uri="{BB962C8B-B14F-4D97-AF65-F5344CB8AC3E}">
        <p14:creationId xmlns:p14="http://schemas.microsoft.com/office/powerpoint/2010/main" val="147935412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D0F5067-E879-4219-8B63-5A6644393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08E7E7-8561-4E47-A46B-4E95A43C2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2A86"/>
          </a:solidFill>
          <a:ln xmlns:a="http://schemas.openxmlformats.org/drawingml/2006/main" w="0">
            <a:solidFill>
              <a:srgbClr val="5B2A86"/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B2924154-4180-4FC4-898F-FDBC29EB6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3863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187A"/>
          </a:solidFill>
          <a:ln xmlns:a="http://schemas.openxmlformats.org/drawingml/2006/main" w="0">
            <a:solidFill>
              <a:srgbClr val="C2187A"/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DA3DD00-7FDF-49D6-8EAC-CD79671FE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2187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2187A"/>
                </a:solidFill>
                <a:latin typeface="Aptos"/>
                <a:ea typeface="Aptos"/>
                <a:cs typeface="Aptos"/>
              </a:rPr>
              <a:t>UPLOADED DOCUMENTS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FC13EA-B9C4-4C21-9790-CC3E25233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438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187A"/>
          </a:solidFill>
          <a:ln xmlns:a="http://schemas.openxmlformats.org/drawingml/2006/main" w="0">
            <a:solidFill>
              <a:srgbClr val="C2187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514089-7208-4898-9F92-06CEA1B9D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9144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3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1327"/>
                </a:solidFill>
                <a:latin typeface="Aptos Display"/>
                <a:ea typeface="Aptos Display"/>
                <a:cs typeface="Aptos Display"/>
              </a:rPr>
              <a:t>Docling/OCR brings user files into the same local retrieval path.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0D9321-E0A3-4E59-B7EA-0074476BC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52650"/>
            <a:ext cx="1238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FA"/>
          </a:solidFill>
          <a:ln xmlns:a="http://schemas.openxmlformats.org/drawingml/2006/main" w="9525">
            <a:solidFill>
              <a:srgbClr val="DED7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59DD32-6409-4D76-B266-070C40472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47900"/>
            <a:ext cx="971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B2A8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B2A86"/>
                </a:solidFill>
                <a:latin typeface="Aptos"/>
                <a:ea typeface="Aptos"/>
                <a:cs typeface="Aptos"/>
              </a:rPr>
              <a:t>PDF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BD2B03-4731-4CD9-95FB-65C90A940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152650"/>
            <a:ext cx="1238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7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3F4DE8-B476-4F0C-9159-A2A57ED5D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247900"/>
            <a:ext cx="971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8CA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08CA8"/>
                </a:solidFill>
                <a:latin typeface="Aptos"/>
                <a:ea typeface="Aptos"/>
                <a:cs typeface="Aptos"/>
              </a:rPr>
              <a:t>DOCX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AFCAB7-5F63-4F6B-BF7C-34884D852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152650"/>
            <a:ext cx="1238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FA"/>
          </a:solidFill>
          <a:ln xmlns:a="http://schemas.openxmlformats.org/drawingml/2006/main" w="9525">
            <a:solidFill>
              <a:srgbClr val="DED7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B17F45-BB45-4D28-A3BA-52EBABDAB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247900"/>
            <a:ext cx="971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B2A8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B2A86"/>
                </a:solidFill>
                <a:latin typeface="Aptos"/>
                <a:ea typeface="Aptos"/>
                <a:cs typeface="Aptos"/>
              </a:rPr>
              <a:t>TXT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8F1942-2972-42E3-95FE-9004FCDC7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152650"/>
            <a:ext cx="1238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7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67A999-55C7-43B8-B36A-B3F6DC6E6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247900"/>
            <a:ext cx="971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8CA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08CA8"/>
                </a:solidFill>
                <a:latin typeface="Aptos"/>
                <a:ea typeface="Aptos"/>
                <a:cs typeface="Aptos"/>
              </a:rPr>
              <a:t>HTML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04B304-F40D-4DF0-A4FC-6B69CAF7E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152650"/>
            <a:ext cx="1238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FA"/>
          </a:solidFill>
          <a:ln xmlns:a="http://schemas.openxmlformats.org/drawingml/2006/main" w="9525">
            <a:solidFill>
              <a:srgbClr val="DED7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95FCFA-F587-43BA-9027-8511C4D4F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247900"/>
            <a:ext cx="971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B2A8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B2A86"/>
                </a:solidFill>
                <a:latin typeface="Aptos"/>
                <a:ea typeface="Aptos"/>
                <a:cs typeface="Aptos"/>
              </a:rPr>
              <a:t>Images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18A2F2-FCC4-4F2F-B453-1F63F12EB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152650"/>
            <a:ext cx="1238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7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593B7D-607C-43A9-94D8-CC032772F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247900"/>
            <a:ext cx="971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8CA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08CA8"/>
                </a:solidFill>
                <a:latin typeface="Aptos"/>
                <a:ea typeface="Aptos"/>
                <a:cs typeface="Aptos"/>
              </a:rPr>
              <a:t>Screenshots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D81169-49A5-4238-AAA2-845F279EF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876550"/>
            <a:ext cx="476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C2187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C2187A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4994F4-2D04-4670-8928-76BFB8A72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448050"/>
            <a:ext cx="4000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FA"/>
          </a:solidFill>
          <a:ln xmlns:a="http://schemas.openxmlformats.org/drawingml/2006/main" w="9525">
            <a:solidFill>
              <a:srgbClr val="DED7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36DFC4-6EB0-4C80-821E-75BF0E581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543300"/>
            <a:ext cx="3733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2187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2187A"/>
                </a:solidFill>
                <a:latin typeface="Aptos"/>
                <a:ea typeface="Aptos"/>
                <a:cs typeface="Aptos"/>
              </a:rPr>
              <a:t>Docling/OCR extracts text locally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B6856C-3B01-446B-9BCF-7084F720A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229100"/>
            <a:ext cx="476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C2187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C2187A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49B1D9-EE4B-45B7-A237-0826C8969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800600"/>
            <a:ext cx="5334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7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BACB2C-A6C1-427C-9B0A-6E206E4F5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895850"/>
            <a:ext cx="5067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E7D5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E7D55"/>
                </a:solidFill>
                <a:latin typeface="Aptos"/>
                <a:ea typeface="Aptos"/>
                <a:cs typeface="Aptos"/>
              </a:rPr>
              <a:t>Uploaded-doc hybrid retrieval: dense Qdrant + BM25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795F66-ADAE-45FD-AD4D-9EC2C3DFA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352800"/>
            <a:ext cx="2381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D"/>
          </a:solidFill>
          <a:ln xmlns:a="http://schemas.openxmlformats.org/drawingml/2006/main" w="9525">
            <a:solidFill>
              <a:srgbClr val="DED7E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0DF442-804A-4FBB-A963-2D061B45D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56235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2187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2187A"/>
                </a:solidFill>
                <a:latin typeface="Aptos"/>
                <a:ea typeface="Aptos"/>
                <a:cs typeface="Aptos"/>
              </a:rPr>
              <a:t>Citation shape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5F5F5F-C83C-4EE2-8BAD-F56A7E7FD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84810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13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1327"/>
                </a:solidFill>
                <a:latin typeface="Aptos"/>
                <a:ea typeface="Aptos"/>
                <a:cs typeface="Aptos"/>
              </a:rPr>
              <a:t>[1] Uploaded document — test_doc.txt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6B28F7E-CFEC-4A90-A583-741AA7295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77000"/>
            <a:ext cx="2781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8A8198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A8198"/>
                </a:solidFill>
                <a:latin typeface="Aptos"/>
                <a:ea typeface="Aptos"/>
                <a:cs typeface="Aptos"/>
              </a:rPr>
              <a:t>Local/on-prem RAG assistant  |  09</a:t>
            </a:r>
          </a:p>
        </p:txBody>
      </p:sp>
    </p:spTree>
    <p:extLst>
      <p:ext uri="{BB962C8B-B14F-4D97-AF65-F5344CB8AC3E}">
        <p14:creationId xmlns:p14="http://schemas.microsoft.com/office/powerpoint/2010/main" val="99882485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D12496E-6528-4B58-B855-6556EAD1D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4B59FE-F5A1-4487-8B88-EC6FDA05B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2A86"/>
          </a:solidFill>
          <a:ln xmlns:a="http://schemas.openxmlformats.org/drawingml/2006/main" w="0">
            <a:solidFill>
              <a:srgbClr val="5B2A86"/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B0400673-2E34-4A01-9E86-1B355A62E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3863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187A"/>
          </a:solidFill>
          <a:ln xmlns:a="http://schemas.openxmlformats.org/drawingml/2006/main" w="0">
            <a:solidFill>
              <a:srgbClr val="C2187A"/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BC2F1D4-9235-4294-9D97-99387E650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2187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2187A"/>
                </a:solidFill>
                <a:latin typeface="Aptos"/>
                <a:ea typeface="Aptos"/>
                <a:cs typeface="Aptos"/>
              </a:rPr>
              <a:t>STREAMLIT END-USER UI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A6BF43-04DB-4A1B-AF93-28AE90FB1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438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187A"/>
          </a:solidFill>
          <a:ln xmlns:a="http://schemas.openxmlformats.org/drawingml/2006/main" w="0">
            <a:solidFill>
              <a:srgbClr val="C2187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06FC9F-526B-4627-95B5-8128A2D6F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9144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3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1327"/>
                </a:solidFill>
                <a:latin typeface="Aptos Display"/>
                <a:ea typeface="Aptos Display"/>
                <a:cs typeface="Aptos Display"/>
              </a:rPr>
              <a:t>The chat surface exposes answers and citations, not debug internals.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723B31-567D-4CB3-882C-AD136FA1F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7239000" cy="462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7EA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773148c2e64fbf"/>
          <a:stretch xmlns:a="http://schemas.openxmlformats.org/drawingml/2006/main"/>
        </p:blipFill>
        <p:spPr>
          <a:xfrm xmlns:a="http://schemas.openxmlformats.org/drawingml/2006/main">
            <a:off x="1283095" y="1866900"/>
            <a:ext cx="5892010" cy="43243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945B06-7CA3-4EFF-9941-AFD6D082B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38350"/>
            <a:ext cx="28575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D"/>
          </a:solidFill>
          <a:ln xmlns:a="http://schemas.openxmlformats.org/drawingml/2006/main" w="9525">
            <a:solidFill>
              <a:srgbClr val="DED7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8151A9-DE8F-4D66-BE28-63FEBCDC2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266950"/>
            <a:ext cx="245745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0" tIns="152400" rIns="171450" bIns="15240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13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1327"/>
                </a:solidFill>
                <a:latin typeface="Aptos"/>
                <a:ea typeface="Aptos"/>
                <a:cs typeface="Aptos"/>
              </a:rPr>
              <a:t>• Clean user-facing chat.</a:t>
            </a:r>
          </a:p>
          <a:p xmlns:a="http://schemas.openxmlformats.org/drawingml/2006/main">
            <a:pPr algn="l">
              <a:defRPr sz="1575" b="0">
                <a:solidFill>
                  <a:srgbClr val="1713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1327"/>
                </a:solidFill>
                <a:latin typeface="Aptos"/>
                <a:ea typeface="Aptos"/>
                <a:cs typeface="Aptos"/>
              </a:rPr>
              <a:t>• Shows only answer and citations.</a:t>
            </a:r>
          </a:p>
          <a:p xmlns:a="http://schemas.openxmlformats.org/drawingml/2006/main">
            <a:pPr algn="l">
              <a:defRPr sz="1575" b="0">
                <a:solidFill>
                  <a:srgbClr val="1713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1327"/>
                </a:solidFill>
                <a:latin typeface="Aptos"/>
                <a:ea typeface="Aptos"/>
                <a:cs typeface="Aptos"/>
              </a:rPr>
              <a:t>• No debug/model/retrieval details.</a:t>
            </a:r>
          </a:p>
          <a:p xmlns:a="http://schemas.openxmlformats.org/drawingml/2006/main">
            <a:pPr algn="l">
              <a:defRPr sz="1575" b="0">
                <a:solidFill>
                  <a:srgbClr val="1713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1327"/>
                </a:solidFill>
                <a:latin typeface="Aptos"/>
                <a:ea typeface="Aptos"/>
                <a:cs typeface="Aptos"/>
              </a:rPr>
              <a:t>• Source mode: Official, Uploaded, Both.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3FBF1B-58D8-45BF-B32C-8F47E0F91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7434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2187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2187A"/>
                </a:solidFill>
                <a:latin typeface="Aptos"/>
                <a:ea typeface="Aptos"/>
                <a:cs typeface="Aptos"/>
              </a:rPr>
              <a:t>Reviewer experience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2AC319-A8A9-469C-8C27-E646D5C07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029200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3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1327"/>
                </a:solidFill>
                <a:latin typeface="Aptos"/>
                <a:ea typeface="Aptos"/>
                <a:cs typeface="Aptos"/>
              </a:rPr>
              <a:t>Ask a WE question, get a cited local answer.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3D6263-8870-46AD-9636-64FBECD1A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77000"/>
            <a:ext cx="2781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8A8198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A8198"/>
                </a:solidFill>
                <a:latin typeface="Aptos"/>
                <a:ea typeface="Aptos"/>
                <a:cs typeface="Aptos"/>
              </a:rPr>
              <a:t>Local/on-prem RAG assistant  |  10</a:t>
            </a:r>
          </a:p>
        </p:txBody>
      </p:sp>
    </p:spTree>
    <p:extLst>
      <p:ext uri="{BB962C8B-B14F-4D97-AF65-F5344CB8AC3E}">
        <p14:creationId xmlns:p14="http://schemas.microsoft.com/office/powerpoint/2010/main" val="36797898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E5BE800-942E-4BC3-9717-234F86FF7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FC5A59-667D-4FB0-AA62-4EC61E612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2A86"/>
          </a:solidFill>
          <a:ln xmlns:a="http://schemas.openxmlformats.org/drawingml/2006/main" w="0">
            <a:solidFill>
              <a:srgbClr val="5B2A86"/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92115939-C75F-4883-A667-81020AC34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3863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187A"/>
          </a:solidFill>
          <a:ln xmlns:a="http://schemas.openxmlformats.org/drawingml/2006/main" w="0">
            <a:solidFill>
              <a:srgbClr val="C2187A"/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09F705F9-910C-4E78-ABB7-0DE3C84E4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2187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2187A"/>
                </a:solidFill>
                <a:latin typeface="Aptos"/>
                <a:ea typeface="Aptos"/>
                <a:cs typeface="Aptos"/>
              </a:rPr>
              <a:t>OBSERVABILITY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F6A203-573F-4E24-A7BC-CCB6C6C53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438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187A"/>
          </a:solidFill>
          <a:ln xmlns:a="http://schemas.openxmlformats.org/drawingml/2006/main" w="0">
            <a:solidFill>
              <a:srgbClr val="C2187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405AF6-8E86-40C2-B96B-806F0361D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9144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3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1327"/>
                </a:solidFill>
                <a:latin typeface="Aptos Display"/>
                <a:ea typeface="Aptos Display"/>
                <a:cs typeface="Aptos Display"/>
              </a:rPr>
              <a:t>Local metrics make answer quality and system health visible.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A2DFC9-FBA3-461B-8995-580574B8F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71437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7EA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a82d7d09284dec"/>
          <a:stretch xmlns:a="http://schemas.openxmlformats.org/drawingml/2006/main"/>
        </p:blipFill>
        <p:spPr>
          <a:xfrm xmlns:a="http://schemas.openxmlformats.org/drawingml/2006/main">
            <a:off x="819150" y="2352428"/>
            <a:ext cx="6838950" cy="1981693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F6C6DF-370D-4FCE-99BE-E40FAAD76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962150"/>
            <a:ext cx="287655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D"/>
          </a:solidFill>
          <a:ln xmlns:a="http://schemas.openxmlformats.org/drawingml/2006/main" w="9525">
            <a:solidFill>
              <a:srgbClr val="DED7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5E633D-E26D-47FD-9996-4F21F37ED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90750"/>
            <a:ext cx="2476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0" tIns="152400" rIns="171450" bIns="1524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13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1327"/>
                </a:solidFill>
                <a:latin typeface="Aptos"/>
                <a:ea typeface="Aptos"/>
                <a:cs typeface="Aptos"/>
              </a:rPr>
              <a:t>• Prometheus metrics.</a:t>
            </a:r>
          </a:p>
          <a:p xmlns:a="http://schemas.openxmlformats.org/drawingml/2006/main">
            <a:pPr algn="l">
              <a:defRPr sz="1500" b="0">
                <a:solidFill>
                  <a:srgbClr val="1713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1327"/>
                </a:solidFill>
                <a:latin typeface="Aptos"/>
                <a:ea typeface="Aptos"/>
                <a:cs typeface="Aptos"/>
              </a:rPr>
              <a:t>• Grafana dashboard.</a:t>
            </a:r>
          </a:p>
          <a:p xmlns:a="http://schemas.openxmlformats.org/drawingml/2006/main">
            <a:pPr algn="l">
              <a:defRPr sz="1500" b="0">
                <a:solidFill>
                  <a:srgbClr val="1713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1327"/>
                </a:solidFill>
                <a:latin typeface="Aptos"/>
                <a:ea typeface="Aptos"/>
                <a:cs typeface="Aptos"/>
              </a:rPr>
              <a:t>• Queries, latency, fallbacks, errors.</a:t>
            </a:r>
          </a:p>
          <a:p xmlns:a="http://schemas.openxmlformats.org/drawingml/2006/main">
            <a:pPr algn="l">
              <a:defRPr sz="1500" b="0">
                <a:solidFill>
                  <a:srgbClr val="1713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1327"/>
                </a:solidFill>
                <a:latin typeface="Aptos"/>
                <a:ea typeface="Aptos"/>
                <a:cs typeface="Aptos"/>
              </a:rPr>
              <a:t>• Reranking and citation quality.</a:t>
            </a:r>
          </a:p>
          <a:p xmlns:a="http://schemas.openxmlformats.org/drawingml/2006/main">
            <a:pPr algn="l">
              <a:defRPr sz="1500" b="0">
                <a:solidFill>
                  <a:srgbClr val="1713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1327"/>
                </a:solidFill>
                <a:latin typeface="Aptos"/>
                <a:ea typeface="Aptos"/>
                <a:cs typeface="Aptos"/>
              </a:rPr>
              <a:t>• Monitoring stays local.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17BD88-47BF-4A83-AD6B-49FE9571B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77000"/>
            <a:ext cx="2781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8A8198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A8198"/>
                </a:solidFill>
                <a:latin typeface="Aptos"/>
                <a:ea typeface="Aptos"/>
                <a:cs typeface="Aptos"/>
              </a:rPr>
              <a:t>Local/on-prem RAG assistant  |  11</a:t>
            </a:r>
          </a:p>
        </p:txBody>
      </p:sp>
    </p:spTree>
    <p:extLst>
      <p:ext uri="{BB962C8B-B14F-4D97-AF65-F5344CB8AC3E}">
        <p14:creationId xmlns:p14="http://schemas.microsoft.com/office/powerpoint/2010/main" val="187728806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D054B47-1B03-4764-8C6A-90CD959B6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E328DB-2671-43D7-97C2-5372502BC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2A86"/>
          </a:solidFill>
          <a:ln xmlns:a="http://schemas.openxmlformats.org/drawingml/2006/main" w="0">
            <a:solidFill>
              <a:srgbClr val="5B2A86"/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7C6B9F7-5F76-4ACD-8F71-C6C3E121C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3863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187A"/>
          </a:solidFill>
          <a:ln xmlns:a="http://schemas.openxmlformats.org/drawingml/2006/main" w="0">
            <a:solidFill>
              <a:srgbClr val="C2187A"/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AD522C6-D183-4BFF-9C77-2F5D52511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2187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2187A"/>
                </a:solidFill>
                <a:latin typeface="Aptos"/>
                <a:ea typeface="Aptos"/>
                <a:cs typeface="Aptos"/>
              </a:rPr>
              <a:t>COST OPTIMIZATION STRATEGY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729E27-573A-42FB-82C4-37BF5FB63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438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187A"/>
          </a:solidFill>
          <a:ln xmlns:a="http://schemas.openxmlformats.org/drawingml/2006/main" w="0">
            <a:solidFill>
              <a:srgbClr val="C2187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44E06E-A113-49C3-98F9-9B53440D6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9144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3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1327"/>
                </a:solidFill>
                <a:latin typeface="Aptos Display"/>
                <a:ea typeface="Aptos Display"/>
                <a:cs typeface="Aptos Display"/>
              </a:rPr>
              <a:t>The system avoids expensive local generation work when cheaper paths are enough.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7361D2-EBEE-4C88-8F2F-E8BBBBB00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24193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7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BB9F2A-7059-48AF-A990-26F9BE009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860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B2A8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5B2A86"/>
                </a:solidFill>
                <a:latin typeface="Aptos"/>
                <a:ea typeface="Aptos"/>
                <a:cs typeface="Aptos"/>
              </a:rPr>
              <a:t>Query routing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3324BF-DA3D-4D1C-B909-D5910A54D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28900"/>
            <a:ext cx="200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587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5870"/>
                </a:solidFill>
                <a:latin typeface="Aptos"/>
                <a:ea typeface="Aptos"/>
                <a:cs typeface="Aptos"/>
              </a:rPr>
              <a:t>Avoid unnecessary generation.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AF9C98-2C84-433C-8C9A-A6D293B07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114550"/>
            <a:ext cx="24193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7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D68B28-0D47-4F4E-B79A-D6A2A2339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2860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8CA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08CA8"/>
                </a:solidFill>
                <a:latin typeface="Aptos"/>
                <a:ea typeface="Aptos"/>
                <a:cs typeface="Aptos"/>
              </a:rPr>
              <a:t>Pipeline routing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93CC25-22EC-455E-A4AA-4602AD8B4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628900"/>
            <a:ext cx="200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587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5870"/>
                </a:solidFill>
                <a:latin typeface="Aptos"/>
                <a:ea typeface="Aptos"/>
                <a:cs typeface="Aptos"/>
              </a:rPr>
              <a:t>Fast / standard / deep paths.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5305BA-682F-47BC-A1BC-FFE209B73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14550"/>
            <a:ext cx="24193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7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FF502D-99DE-414A-BA5C-20D0CFEF4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2860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B2A8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5B2A86"/>
                </a:solidFill>
                <a:latin typeface="Aptos"/>
                <a:ea typeface="Aptos"/>
                <a:cs typeface="Aptos"/>
              </a:rPr>
              <a:t>Model routing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37091E-36BE-4BDF-B154-4034E6CE5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628900"/>
            <a:ext cx="200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587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5870"/>
                </a:solidFill>
                <a:latin typeface="Aptos"/>
                <a:ea typeface="Aptos"/>
                <a:cs typeface="Aptos"/>
              </a:rPr>
              <a:t>Architecture ready for model tiers.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EEC1F5-1BA3-4204-8B5B-57F4F19A1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114550"/>
            <a:ext cx="24193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7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D672F8-84AF-4DD4-A0CB-7E47B7B91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2860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8CA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08CA8"/>
                </a:solidFill>
                <a:latin typeface="Aptos"/>
                <a:ea typeface="Aptos"/>
                <a:cs typeface="Aptos"/>
              </a:rPr>
              <a:t>Hybrid retrieval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F0EFA8-D71F-4FE5-99D8-43E4FA603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628900"/>
            <a:ext cx="200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587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5870"/>
                </a:solidFill>
                <a:latin typeface="Aptos"/>
                <a:ea typeface="Aptos"/>
                <a:cs typeface="Aptos"/>
              </a:rPr>
              <a:t>Smaller, more relevant prompt context.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8CF9F1-5BB6-4CD4-A362-FB264E420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38550"/>
            <a:ext cx="24193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D"/>
          </a:solidFill>
          <a:ln xmlns:a="http://schemas.openxmlformats.org/drawingml/2006/main" w="9525">
            <a:solidFill>
              <a:srgbClr val="DED7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EEDE11-AFCE-4A80-BCC9-A572D6C3A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100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B2A8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5B2A86"/>
                </a:solidFill>
                <a:latin typeface="Aptos"/>
                <a:ea typeface="Aptos"/>
                <a:cs typeface="Aptos"/>
              </a:rPr>
              <a:t>Context compression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E0DB1E-C1CA-4BEF-93A9-6D23083B5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52900"/>
            <a:ext cx="200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587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5870"/>
                </a:solidFill>
                <a:latin typeface="Aptos"/>
                <a:ea typeface="Aptos"/>
                <a:cs typeface="Aptos"/>
              </a:rPr>
              <a:t>Reduce tokens before generation.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2C5ADD-AE29-4858-812C-C6613752C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638550"/>
            <a:ext cx="24193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D"/>
          </a:solidFill>
          <a:ln xmlns:a="http://schemas.openxmlformats.org/drawingml/2006/main" w="9525">
            <a:solidFill>
              <a:srgbClr val="DED7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6506F3-976F-4C84-B259-A7C662944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8100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8CA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08CA8"/>
                </a:solidFill>
                <a:latin typeface="Aptos"/>
                <a:ea typeface="Aptos"/>
                <a:cs typeface="Aptos"/>
              </a:rPr>
              <a:t>Optional reranking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FD6B4A-0DEC-4187-8A94-86C3D24AF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152900"/>
            <a:ext cx="200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587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5870"/>
                </a:solidFill>
                <a:latin typeface="Aptos"/>
                <a:ea typeface="Aptos"/>
                <a:cs typeface="Aptos"/>
              </a:rPr>
              <a:t>Use precision only when it pays off.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C262F3-3C6C-4530-9766-6B3998868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638550"/>
            <a:ext cx="24193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D"/>
          </a:solidFill>
          <a:ln xmlns:a="http://schemas.openxmlformats.org/drawingml/2006/main" w="9525">
            <a:solidFill>
              <a:srgbClr val="DED7E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327EC2-E264-4B9B-8F39-35A57983C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8100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B2A8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5B2A86"/>
                </a:solidFill>
                <a:latin typeface="Aptos"/>
                <a:ea typeface="Aptos"/>
                <a:cs typeface="Aptos"/>
              </a:rPr>
              <a:t>Deterministic fallback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D344CFF-C24E-4314-B09D-85F51FB07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152900"/>
            <a:ext cx="200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587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5870"/>
                </a:solidFill>
                <a:latin typeface="Aptos"/>
                <a:ea typeface="Aptos"/>
                <a:cs typeface="Aptos"/>
              </a:rPr>
              <a:t>Answer safely without repeat inference.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0D76E79-C5E6-4B07-B3D8-D1D41987C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638550"/>
            <a:ext cx="24193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D"/>
          </a:solidFill>
          <a:ln xmlns:a="http://schemas.openxmlformats.org/drawingml/2006/main" w="9525">
            <a:solidFill>
              <a:srgbClr val="DED7E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E5BFCDB-435D-4DD8-AF7D-C67CC8AE4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8100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8CA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08CA8"/>
                </a:solidFill>
                <a:latin typeface="Aptos"/>
                <a:ea typeface="Aptos"/>
                <a:cs typeface="Aptos"/>
              </a:rPr>
              <a:t>Future cache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0C3F595-E5D5-43F1-AE8A-397C01A01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152900"/>
            <a:ext cx="200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587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5870"/>
                </a:solidFill>
                <a:latin typeface="Aptos"/>
                <a:ea typeface="Aptos"/>
                <a:cs typeface="Aptos"/>
              </a:rPr>
              <a:t>Redis exact cache + Qdrant semantic cache.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00B5CC9-B30A-4D6A-8360-BC1FE8AE7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77000"/>
            <a:ext cx="2781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8A8198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A8198"/>
                </a:solidFill>
                <a:latin typeface="Aptos"/>
                <a:ea typeface="Aptos"/>
                <a:cs typeface="Aptos"/>
              </a:rPr>
              <a:t>Local/on-prem RAG assistant  |  12</a:t>
            </a:r>
          </a:p>
        </p:txBody>
      </p:sp>
    </p:spTree>
    <p:extLst>
      <p:ext uri="{BB962C8B-B14F-4D97-AF65-F5344CB8AC3E}">
        <p14:creationId xmlns:p14="http://schemas.microsoft.com/office/powerpoint/2010/main" val="19796323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BBA619A-4A15-4995-A2AF-9956DBCFB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E90605-5070-4334-A593-03A0BAC71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2A86"/>
          </a:solidFill>
          <a:ln xmlns:a="http://schemas.openxmlformats.org/drawingml/2006/main" w="0">
            <a:solidFill>
              <a:srgbClr val="5B2A86"/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B8C1277-982A-41AD-BA21-484C4FC55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3863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187A"/>
          </a:solidFill>
          <a:ln xmlns:a="http://schemas.openxmlformats.org/drawingml/2006/main" w="0">
            <a:solidFill>
              <a:srgbClr val="C2187A"/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6649B9D1-CE8D-4CCA-892B-29E9FB261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2187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2187A"/>
                </a:solidFill>
                <a:latin typeface="Aptos"/>
                <a:ea typeface="Aptos"/>
                <a:cs typeface="Aptos"/>
              </a:rPr>
              <a:t>EVALUATION AND VALIDATION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A0349E-EC54-4354-A0EC-1A3F3EC17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438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187A"/>
          </a:solidFill>
          <a:ln xmlns:a="http://schemas.openxmlformats.org/drawingml/2006/main" w="0">
            <a:solidFill>
              <a:srgbClr val="C2187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FADD17-6578-4455-8FC7-CED0D10B4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9144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3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1327"/>
                </a:solidFill>
                <a:latin typeface="Aptos Display"/>
                <a:ea typeface="Aptos Display"/>
                <a:cs typeface="Aptos Display"/>
              </a:rPr>
              <a:t>Current validation proves the flow without publishing retrieval metrics yet.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2C6E62-1B24-4E5D-B2AC-F96A22A54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057400"/>
            <a:ext cx="7429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7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4B4323-591C-44C2-8064-F04BF822D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33600"/>
            <a:ext cx="323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E7D5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E7D55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E861AC-B3D7-49CF-9DC6-9FDB301ED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133600"/>
            <a:ext cx="590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13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1327"/>
                </a:solidFill>
                <a:latin typeface="Aptos"/>
                <a:ea typeface="Aptos"/>
                <a:cs typeface="Aptos"/>
              </a:rPr>
              <a:t>Generation validation script exists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71CBFF-D945-47CE-88FF-7E361B6E3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667000"/>
            <a:ext cx="7429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7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034E8E-A8AB-4D5A-A68A-64853DC69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743200"/>
            <a:ext cx="323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E7D5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E7D55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E4B09D-D686-4E92-A34D-C79C64C8B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743200"/>
            <a:ext cx="590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13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1327"/>
                </a:solidFill>
                <a:latin typeface="Aptos"/>
                <a:ea typeface="Aptos"/>
                <a:cs typeface="Aptos"/>
              </a:rPr>
              <a:t>Uploaded TXT test passed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3E8691-3205-4D63-ABA9-0EA61B708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276600"/>
            <a:ext cx="7429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7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E2AFC0-0431-4786-A1FD-D09E604BB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352800"/>
            <a:ext cx="323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E7D5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E7D55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C49B19-1314-4F56-A415-86F059599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352800"/>
            <a:ext cx="590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13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1327"/>
                </a:solidFill>
                <a:latin typeface="Aptos"/>
                <a:ea typeface="Aptos"/>
                <a:cs typeface="Aptos"/>
              </a:rPr>
              <a:t>Screenshot/image OCR test passed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967FA1-C131-4325-AA03-B9AD72E10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886200"/>
            <a:ext cx="7429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7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6FAA0C-4883-47A6-9F95-22B56AF55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62400"/>
            <a:ext cx="323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E7D5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E7D55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05FE2D-DBCC-4EAD-AEBA-0784FBC1D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962400"/>
            <a:ext cx="590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13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1327"/>
                </a:solidFill>
                <a:latin typeface="Aptos"/>
                <a:ea typeface="Aptos"/>
                <a:cs typeface="Aptos"/>
              </a:rPr>
              <a:t>Observability dashboard validated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76696C-F80F-440B-89FE-D2CF5AA1C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495800"/>
            <a:ext cx="7429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7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123EAF-0650-482C-9539-448A94A33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572000"/>
            <a:ext cx="323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E7D5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E7D55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9E3A12-BB3C-4346-8BBF-97D8BED09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572000"/>
            <a:ext cx="590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13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1327"/>
                </a:solidFill>
                <a:latin typeface="Aptos"/>
                <a:ea typeface="Aptos"/>
                <a:cs typeface="Aptos"/>
              </a:rPr>
              <a:t>Streamlit UI tested end-to-end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E79939-30F3-4B25-971E-0D2209F5B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476500"/>
            <a:ext cx="15240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FA"/>
          </a:solidFill>
          <a:ln xmlns:a="http://schemas.openxmlformats.org/drawingml/2006/main" w="9525">
            <a:solidFill>
              <a:srgbClr val="DED7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A29EF7-016E-4EC2-A38F-6BEE02F19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743200"/>
            <a:ext cx="1104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C2187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C2187A"/>
                </a:solidFill>
                <a:latin typeface="Aptos"/>
                <a:ea typeface="Aptos"/>
                <a:cs typeface="Aptos"/>
              </a:rPr>
              <a:t>Next metrics gate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1BFD9E-97D6-4D7B-ABFE-D5DD6715E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295650"/>
            <a:ext cx="1143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13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1327"/>
                </a:solidFill>
                <a:latin typeface="Aptos"/>
                <a:ea typeface="Aptos"/>
                <a:cs typeface="Aptos"/>
              </a:rPr>
              <a:t>Retrieval evaluation will be rerun after full website scraping and re-indexing.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2A7BCF-007B-4384-8CE3-FDD6D667F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77000"/>
            <a:ext cx="2781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8A8198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A8198"/>
                </a:solidFill>
                <a:latin typeface="Aptos"/>
                <a:ea typeface="Aptos"/>
                <a:cs typeface="Aptos"/>
              </a:rPr>
              <a:t>Local/on-prem RAG assistant  |  13</a:t>
            </a:r>
          </a:p>
        </p:txBody>
      </p:sp>
    </p:spTree>
    <p:extLst>
      <p:ext uri="{BB962C8B-B14F-4D97-AF65-F5344CB8AC3E}">
        <p14:creationId xmlns:p14="http://schemas.microsoft.com/office/powerpoint/2010/main" val="2076200766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DE1F265-2D2E-48C5-9339-3F7582BAD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75C40B-2313-449E-A569-84CB628BB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2A86"/>
          </a:solidFill>
          <a:ln xmlns:a="http://schemas.openxmlformats.org/drawingml/2006/main" w="0">
            <a:solidFill>
              <a:srgbClr val="5B2A86"/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C75725A9-F143-452E-9FD9-4FD0722E0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3863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187A"/>
          </a:solidFill>
          <a:ln xmlns:a="http://schemas.openxmlformats.org/drawingml/2006/main" w="0">
            <a:solidFill>
              <a:srgbClr val="C2187A"/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6B5C412-7AAD-4F5C-993F-5005615D3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2187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2187A"/>
                </a:solidFill>
                <a:latin typeface="Aptos"/>
                <a:ea typeface="Aptos"/>
                <a:cs typeface="Aptos"/>
              </a:rPr>
              <a:t>ON-PREMISE LOCAL DEPLOYMENT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26DEFD-B295-4606-A687-9FBE97662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438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187A"/>
          </a:solidFill>
          <a:ln xmlns:a="http://schemas.openxmlformats.org/drawingml/2006/main" w="0">
            <a:solidFill>
              <a:srgbClr val="C2187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D76CE6-197D-495A-9C40-EF6CF2B72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9144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3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1327"/>
                </a:solidFill>
                <a:latin typeface="Aptos Display"/>
                <a:ea typeface="Aptos Display"/>
                <a:cs typeface="Aptos Display"/>
              </a:rPr>
              <a:t>The project is designed for local infrastructure, aligned with the assessment requirement.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BE4C5D-471A-45A1-B858-E1A1AF41D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05000"/>
            <a:ext cx="464820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D"/>
          </a:solidFill>
          <a:ln xmlns:a="http://schemas.openxmlformats.org/drawingml/2006/main" w="9525">
            <a:solidFill>
              <a:srgbClr val="DED7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A38BB1-2FFF-4621-8031-DB49255FF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209800"/>
            <a:ext cx="3714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5B2A86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5B2A86"/>
                </a:solidFill>
                <a:latin typeface="Aptos"/>
                <a:ea typeface="Aptos"/>
                <a:cs typeface="Aptos"/>
              </a:rPr>
              <a:t>Local Machine / On-Prem Server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79AB7A-F570-4083-9E84-A2272C5C1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914650"/>
            <a:ext cx="1676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7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A42C84-11ED-4E02-8BD5-A7C2FB51D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09900"/>
            <a:ext cx="1409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8CA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8CA8"/>
                </a:solidFill>
                <a:latin typeface="Aptos"/>
                <a:ea typeface="Aptos"/>
                <a:cs typeface="Aptos"/>
              </a:rPr>
              <a:t>Streamlit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6303BD-CE60-46A3-9874-5A3813414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914650"/>
            <a:ext cx="1676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7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F796F0-1AFA-4EE4-9D07-7F9A8FA2B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009900"/>
            <a:ext cx="1409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C2187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C2187A"/>
                </a:solidFill>
                <a:latin typeface="Aptos"/>
                <a:ea typeface="Aptos"/>
                <a:cs typeface="Aptos"/>
              </a:rPr>
              <a:t>Ollama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3D69BF-3827-4972-9428-396AAAD34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38550"/>
            <a:ext cx="1676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7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234D43-5FD2-41EB-B308-9A35670BD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33800"/>
            <a:ext cx="1409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8CA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8CA8"/>
                </a:solidFill>
                <a:latin typeface="Aptos"/>
                <a:ea typeface="Aptos"/>
                <a:cs typeface="Aptos"/>
              </a:rPr>
              <a:t>Qdrant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F40657-894C-40E9-A5DC-3017406AE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638550"/>
            <a:ext cx="1676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7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3AA1E8-260C-46A8-81AC-B92DA2F07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733800"/>
            <a:ext cx="1409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C2187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C2187A"/>
                </a:solidFill>
                <a:latin typeface="Aptos"/>
                <a:ea typeface="Aptos"/>
                <a:cs typeface="Aptos"/>
              </a:rPr>
              <a:t>BM25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F07666-924B-4764-AA64-BE8AF39B3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362450"/>
            <a:ext cx="1676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7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7E2664-6968-49FF-A469-4F5B4A963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57700"/>
            <a:ext cx="1409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8CA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8CA8"/>
                </a:solidFill>
                <a:latin typeface="Aptos"/>
                <a:ea typeface="Aptos"/>
                <a:cs typeface="Aptos"/>
              </a:rPr>
              <a:t>Docling/OCR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7C3F64-55BA-425A-84D2-DF92ECF2A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362450"/>
            <a:ext cx="1676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7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75F590-5CA6-44CC-B1BE-8982642B0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457700"/>
            <a:ext cx="1409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C2187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C2187A"/>
                </a:solidFill>
                <a:latin typeface="Aptos"/>
                <a:ea typeface="Aptos"/>
                <a:cs typeface="Aptos"/>
              </a:rPr>
              <a:t>Prometheus/Grafana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B672BB-BAFC-4DEC-87F9-29ABD4284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885950"/>
            <a:ext cx="51435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DED7EA"/>
            </a:solidFill>
            <a:prstDash val="solid"/>
          </a:ln>
        </p:spPr>
        <p:txBody>
          <a:bodyPr xmlns:a="http://schemas.openxmlformats.org/drawingml/2006/main" lIns="190500" tIns="152400" rIns="171450" bIns="15240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13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1327"/>
                </a:solidFill>
                <a:latin typeface="Aptos"/>
                <a:ea typeface="Aptos"/>
                <a:cs typeface="Aptos"/>
              </a:rPr>
              <a:t>• No external LLM API is required.</a:t>
            </a:r>
          </a:p>
          <a:p xmlns:a="http://schemas.openxmlformats.org/drawingml/2006/main">
            <a:pPr algn="l">
              <a:defRPr sz="1425" b="0">
                <a:solidFill>
                  <a:srgbClr val="1713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1327"/>
                </a:solidFill>
                <a:latin typeface="Aptos"/>
                <a:ea typeface="Aptos"/>
                <a:cs typeface="Aptos"/>
              </a:rPr>
              <a:t>• Ollama runs local embedding and generation models.</a:t>
            </a:r>
          </a:p>
          <a:p xmlns:a="http://schemas.openxmlformats.org/drawingml/2006/main">
            <a:pPr algn="l">
              <a:defRPr sz="1425" b="0">
                <a:solidFill>
                  <a:srgbClr val="1713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1327"/>
                </a:solidFill>
                <a:latin typeface="Aptos"/>
                <a:ea typeface="Aptos"/>
                <a:cs typeface="Aptos"/>
              </a:rPr>
              <a:t>• Qdrant stores vectors locally; BM25 indexes are local files.</a:t>
            </a:r>
          </a:p>
          <a:p xmlns:a="http://schemas.openxmlformats.org/drawingml/2006/main">
            <a:pPr algn="l">
              <a:defRPr sz="1425" b="0">
                <a:solidFill>
                  <a:srgbClr val="1713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1327"/>
                </a:solidFill>
                <a:latin typeface="Aptos"/>
                <a:ea typeface="Aptos"/>
                <a:cs typeface="Aptos"/>
              </a:rPr>
              <a:t>• Docling/OCR processes uploaded files locally.</a:t>
            </a:r>
          </a:p>
          <a:p xmlns:a="http://schemas.openxmlformats.org/drawingml/2006/main">
            <a:pPr algn="l">
              <a:defRPr sz="1425" b="0">
                <a:solidFill>
                  <a:srgbClr val="1713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1327"/>
                </a:solidFill>
                <a:latin typeface="Aptos"/>
                <a:ea typeface="Aptos"/>
                <a:cs typeface="Aptos"/>
              </a:rPr>
              <a:t>• Streamlit, Prometheus, and Grafana run locally.</a:t>
            </a:r>
          </a:p>
          <a:p xmlns:a="http://schemas.openxmlformats.org/drawingml/2006/main">
            <a:pPr algn="l">
              <a:defRPr sz="1425" b="0">
                <a:solidFill>
                  <a:srgbClr val="1713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1327"/>
                </a:solidFill>
                <a:latin typeface="Aptos"/>
                <a:ea typeface="Aptos"/>
                <a:cs typeface="Aptos"/>
              </a:rPr>
              <a:t>• Uploaded documents and user queries stay inside the environment.</a:t>
            </a:r>
          </a:p>
          <a:p xmlns:a="http://schemas.openxmlformats.org/drawingml/2006/main">
            <a:pPr algn="l">
              <a:defRPr sz="1425" b="0">
                <a:solidFill>
                  <a:srgbClr val="1713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1327"/>
                </a:solidFill>
                <a:latin typeface="Aptos"/>
                <a:ea typeface="Aptos"/>
                <a:cs typeface="Aptos"/>
              </a:rPr>
              <a:t>• Docker Compose orchestrates local infrastructure.</a:t>
            </a:r>
          </a:p>
          <a:p xmlns:a="http://schemas.openxmlformats.org/drawingml/2006/main">
            <a:pPr algn="l">
              <a:defRPr sz="1425" b="0">
                <a:solidFill>
                  <a:srgbClr val="1713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1327"/>
                </a:solidFill>
                <a:latin typeface="Aptos"/>
                <a:ea typeface="Aptos"/>
                <a:cs typeface="Aptos"/>
              </a:rPr>
              <a:t>• Development can use Docker infrastructure + local Streamlit; demos can be fully Dockerized.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B9F15B-C47C-4FF3-9C92-070CE668D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77000"/>
            <a:ext cx="2781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8A8198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A8198"/>
                </a:solidFill>
                <a:latin typeface="Aptos"/>
                <a:ea typeface="Aptos"/>
                <a:cs typeface="Aptos"/>
              </a:rPr>
              <a:t>Local/on-prem RAG assistant  |  14</a:t>
            </a:r>
          </a:p>
        </p:txBody>
      </p:sp>
    </p:spTree>
    <p:extLst>
      <p:ext uri="{BB962C8B-B14F-4D97-AF65-F5344CB8AC3E}">
        <p14:creationId xmlns:p14="http://schemas.microsoft.com/office/powerpoint/2010/main" val="337677256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C347B6D-E01B-4783-991D-2425D4F9F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EE3681-C8D2-490B-ACB1-C11D051E8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2A86"/>
          </a:solidFill>
          <a:ln xmlns:a="http://schemas.openxmlformats.org/drawingml/2006/main" w="0">
            <a:solidFill>
              <a:srgbClr val="5B2A86"/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94FE3944-7B51-4B6E-8116-7DA410830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3863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187A"/>
          </a:solidFill>
          <a:ln xmlns:a="http://schemas.openxmlformats.org/drawingml/2006/main" w="0">
            <a:solidFill>
              <a:srgbClr val="C2187A"/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07570AE-284A-4BF1-B9EB-C9FBDD653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2187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2187A"/>
                </a:solidFill>
                <a:latin typeface="Aptos"/>
                <a:ea typeface="Aptos"/>
                <a:cs typeface="Aptos"/>
              </a:rPr>
              <a:t>FUTURE WORK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2F79F8-E407-4FE7-BBE2-098C48452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438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187A"/>
          </a:solidFill>
          <a:ln xmlns:a="http://schemas.openxmlformats.org/drawingml/2006/main" w="0">
            <a:solidFill>
              <a:srgbClr val="C2187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06511F-4D03-4058-BD7E-D4329BB69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9144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3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1327"/>
                </a:solidFill>
                <a:latin typeface="Aptos Display"/>
                <a:ea typeface="Aptos Display"/>
                <a:cs typeface="Aptos Display"/>
              </a:rPr>
              <a:t>The roadmap expands source coverage, product depth, and production readiness.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B63135-FEA3-4E0A-B6E1-91B5700F4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4724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7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30B9A4-C702-49C3-A756-9A5D225C1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4790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5B2A86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5B2A86"/>
                </a:solidFill>
                <a:latin typeface="Aptos"/>
                <a:ea typeface="Aptos"/>
                <a:cs typeface="Aptos"/>
              </a:rPr>
              <a:t>Knowledge scale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4B3E2B-A38E-46FD-958B-3EF6E6D36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4095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3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1327"/>
                </a:solidFill>
                <a:latin typeface="Aptos"/>
                <a:ea typeface="Aptos"/>
                <a:cs typeface="Aptos"/>
              </a:rPr>
              <a:t>Full website scraping and re-indexing</a:t>
            </a:r>
          </a:p>
          <a:p xmlns:a="http://schemas.openxmlformats.org/drawingml/2006/main">
            <a:pPr algn="l">
              <a:defRPr sz="1350" b="0">
                <a:solidFill>
                  <a:srgbClr val="1713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1327"/>
                </a:solidFill>
                <a:latin typeface="Aptos"/>
                <a:ea typeface="Aptos"/>
                <a:cs typeface="Aptos"/>
              </a:rPr>
              <a:t>WE Home post-processing cleanup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BB1CD1-5FA4-48A6-BFF8-A2FE90DEB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057400"/>
            <a:ext cx="4724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D"/>
          </a:solidFill>
          <a:ln xmlns:a="http://schemas.openxmlformats.org/drawingml/2006/main" w="9525">
            <a:solidFill>
              <a:srgbClr val="DED7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A11A3B-E7BB-437A-B561-A35C84AFD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4790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C2187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C2187A"/>
                </a:solidFill>
                <a:latin typeface="Aptos"/>
                <a:ea typeface="Aptos"/>
                <a:cs typeface="Aptos"/>
              </a:rPr>
              <a:t>Agentic advisor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EB9964-0D52-4CD8-9900-90F653217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28900"/>
            <a:ext cx="4095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3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1327"/>
                </a:solidFill>
                <a:latin typeface="Aptos"/>
                <a:ea typeface="Aptos"/>
                <a:cs typeface="Aptos"/>
              </a:rPr>
              <a:t>Compare requested Max plan with the user's current plan</a:t>
            </a:r>
          </a:p>
          <a:p xmlns:a="http://schemas.openxmlformats.org/drawingml/2006/main">
            <a:pPr algn="l">
              <a:defRPr sz="1350" b="0">
                <a:solidFill>
                  <a:srgbClr val="1713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1327"/>
                </a:solidFill>
                <a:latin typeface="Aptos"/>
                <a:ea typeface="Aptos"/>
                <a:cs typeface="Aptos"/>
              </a:rPr>
              <a:t>Suggest upgrade or renewal options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F7448C-932A-496E-A6A9-F923AF315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4724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7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DF657E-E70D-4C5B-A20B-07F1090CE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433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5B2A86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5B2A86"/>
                </a:solidFill>
                <a:latin typeface="Aptos"/>
                <a:ea typeface="Aptos"/>
                <a:cs typeface="Aptos"/>
              </a:rPr>
              <a:t>Performance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3D0B4A-6F75-433D-976D-A8D90C09C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24350"/>
            <a:ext cx="4095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3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1327"/>
                </a:solidFill>
                <a:latin typeface="Aptos"/>
                <a:ea typeface="Aptos"/>
                <a:cs typeface="Aptos"/>
              </a:rPr>
              <a:t>Redis exact cache and semantic cache</a:t>
            </a:r>
          </a:p>
          <a:p xmlns:a="http://schemas.openxmlformats.org/drawingml/2006/main">
            <a:pPr algn="l">
              <a:defRPr sz="1350" b="0">
                <a:solidFill>
                  <a:srgbClr val="1713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1327"/>
                </a:solidFill>
                <a:latin typeface="Aptos"/>
                <a:ea typeface="Aptos"/>
                <a:cs typeface="Aptos"/>
              </a:rPr>
              <a:t>Context and retrieval tuning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00ED6E-DE30-4176-B14F-AE42EC56D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752850"/>
            <a:ext cx="4724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D"/>
          </a:solidFill>
          <a:ln xmlns:a="http://schemas.openxmlformats.org/drawingml/2006/main" w="9525">
            <a:solidFill>
              <a:srgbClr val="DED7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CF530C-7BED-45DE-9DA8-4911423B3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9433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C2187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C2187A"/>
                </a:solidFill>
                <a:latin typeface="Aptos"/>
                <a:ea typeface="Aptos"/>
                <a:cs typeface="Aptos"/>
              </a:rPr>
              <a:t>Productization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571B08-58D1-4A6D-B9C4-E20812E70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324350"/>
            <a:ext cx="4095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3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1327"/>
                </a:solidFill>
                <a:latin typeface="Aptos"/>
                <a:ea typeface="Aptos"/>
                <a:cs typeface="Aptos"/>
              </a:rPr>
              <a:t>FastAPI backend</a:t>
            </a:r>
          </a:p>
          <a:p xmlns:a="http://schemas.openxmlformats.org/drawingml/2006/main">
            <a:pPr algn="l">
              <a:defRPr sz="1350" b="0">
                <a:solidFill>
                  <a:srgbClr val="1713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1327"/>
                </a:solidFill>
                <a:latin typeface="Aptos"/>
                <a:ea typeface="Aptos"/>
                <a:cs typeface="Aptos"/>
              </a:rPr>
              <a:t>Authentication and persistent sessions</a:t>
            </a:r>
          </a:p>
          <a:p xmlns:a="http://schemas.openxmlformats.org/drawingml/2006/main">
            <a:pPr algn="l">
              <a:defRPr sz="1350" b="0">
                <a:solidFill>
                  <a:srgbClr val="1713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1327"/>
                </a:solidFill>
                <a:latin typeface="Aptos"/>
                <a:ea typeface="Aptos"/>
                <a:cs typeface="Aptos"/>
              </a:rPr>
              <a:t>Production deployment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452C77-6675-4FB3-B6B2-6D83E5CAB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77000"/>
            <a:ext cx="2781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8A8198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A8198"/>
                </a:solidFill>
                <a:latin typeface="Aptos"/>
                <a:ea typeface="Aptos"/>
                <a:cs typeface="Aptos"/>
              </a:rPr>
              <a:t>Local/on-prem RAG assistant  |  15</a:t>
            </a:r>
          </a:p>
        </p:txBody>
      </p:sp>
    </p:spTree>
    <p:extLst>
      <p:ext uri="{BB962C8B-B14F-4D97-AF65-F5344CB8AC3E}">
        <p14:creationId xmlns:p14="http://schemas.microsoft.com/office/powerpoint/2010/main" val="800294784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AECF135-4A5E-4ED6-8543-AA1E71E35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60DFE4-7DE0-4EAB-91E6-F90DA91C8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2A86"/>
          </a:solidFill>
          <a:ln xmlns:a="http://schemas.openxmlformats.org/drawingml/2006/main" w="0">
            <a:solidFill>
              <a:srgbClr val="5B2A86"/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4010D3D2-6F2D-46F7-B2E3-3D110E647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3863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187A"/>
          </a:solidFill>
          <a:ln xmlns:a="http://schemas.openxmlformats.org/drawingml/2006/main" w="0">
            <a:solidFill>
              <a:srgbClr val="C2187A"/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7CFC80A-FABC-484E-A3AA-7BE2B8063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2187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2187A"/>
                </a:solidFill>
                <a:latin typeface="Aptos"/>
                <a:ea typeface="Aptos"/>
                <a:cs typeface="Aptos"/>
              </a:rPr>
              <a:t>DEMO 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49E74C-6D56-44BB-B014-95E2B03BF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438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187A"/>
          </a:solidFill>
          <a:ln xmlns:a="http://schemas.openxmlformats.org/drawingml/2006/main" w="0">
            <a:solidFill>
              <a:srgbClr val="C2187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7D2015-CE4C-499D-A637-739B62C31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9144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3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1327"/>
                </a:solidFill>
                <a:latin typeface="Aptos Display"/>
                <a:ea typeface="Aptos Display"/>
                <a:cs typeface="Aptos Display"/>
              </a:rPr>
              <a:t>The reviewer can see official answers, uploaded-document answers, and live metrics.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F0CD7A-8619-4CD3-B05A-65B27560D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431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18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1F3C72-EAFD-496E-9C07-91B050DCF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9775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676E35-419C-4857-AB46-2BFF1E90D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905000"/>
            <a:ext cx="8629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7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39E54B-8DD5-4C80-BE3C-8C1DC6734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019300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3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1327"/>
                </a:solidFill>
                <a:latin typeface="Aptos"/>
                <a:ea typeface="Aptos"/>
                <a:cs typeface="Aptos"/>
              </a:rPr>
              <a:t>Ask official WE question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53E81D-C745-41FB-AA55-FDAA678ED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019300"/>
            <a:ext cx="428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C2187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C2187A"/>
                </a:solidFill>
                <a:latin typeface="Aptos"/>
                <a:ea typeface="Aptos"/>
                <a:cs typeface="Aptos"/>
              </a:rPr>
              <a:t>كود معرفة الرصيد كام؟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27EA60-2B62-40FC-AF8E-4A5444542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860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2A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A28A16-603B-4673-987E-C5D41517D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52725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73AA9B-EB1E-410E-BF3B-895D40BBF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647950"/>
            <a:ext cx="8629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D"/>
          </a:solidFill>
          <a:ln xmlns:a="http://schemas.openxmlformats.org/drawingml/2006/main" w="9525">
            <a:solidFill>
              <a:srgbClr val="DED7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E36163-EC51-4151-9F5C-205D620B3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762250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3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1327"/>
                </a:solidFill>
                <a:latin typeface="Aptos"/>
                <a:ea typeface="Aptos"/>
                <a:cs typeface="Aptos"/>
              </a:rPr>
              <a:t>Ask FAQ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99B542-46E6-4852-BE61-CF210835F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762250"/>
            <a:ext cx="428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587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D5870"/>
                </a:solidFill>
                <a:latin typeface="Aptos"/>
                <a:ea typeface="Aptos"/>
                <a:cs typeface="Aptos"/>
              </a:rPr>
              <a:t>What is the SIM swap cost?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586953-4BEB-4FE1-9317-C88724BC4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290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2A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60F7AB-D8D2-4198-84BA-50737A4E5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95675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1F7B79-4FE7-4443-8A4B-053675879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390900"/>
            <a:ext cx="8629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7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59EE75-BDB9-4846-B3B4-BCFF9FB3C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505200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3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1327"/>
                </a:solidFill>
                <a:latin typeface="Aptos"/>
                <a:ea typeface="Aptos"/>
                <a:cs typeface="Aptos"/>
              </a:rPr>
              <a:t>Upload TXT/image document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540E5F-FBAE-4813-A4C3-0F1B326CF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505200"/>
            <a:ext cx="428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587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D5870"/>
                </a:solidFill>
                <a:latin typeface="Aptos"/>
                <a:ea typeface="Aptos"/>
                <a:cs typeface="Aptos"/>
              </a:rPr>
              <a:t>Docling/OCR extracts locally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A230F9-A1AD-4213-A232-DA24B963E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719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2A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AD182B-75DA-469A-B210-9D366C6CC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38625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3A2C5E-4634-4246-9532-0D9690062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133850"/>
            <a:ext cx="8629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D"/>
          </a:solidFill>
          <a:ln xmlns:a="http://schemas.openxmlformats.org/drawingml/2006/main" w="9525">
            <a:solidFill>
              <a:srgbClr val="DED7E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528C33-87DD-490E-883A-52E341D3C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248150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3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1327"/>
                </a:solidFill>
                <a:latin typeface="Aptos"/>
                <a:ea typeface="Aptos"/>
                <a:cs typeface="Aptos"/>
              </a:rPr>
              <a:t>Ask about uploaded content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1D4B92-FBF5-4561-85CF-98788A9DF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248150"/>
            <a:ext cx="428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587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D5870"/>
                </a:solidFill>
                <a:latin typeface="Aptos"/>
                <a:ea typeface="Aptos"/>
                <a:cs typeface="Aptos"/>
              </a:rPr>
              <a:t>Answer cites uploaded source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AD27E9D-768E-4E20-A1AB-25383E5E0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149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2A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EC3FB58-6A42-4B8E-8C23-8686BA037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81575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A06209F-D7D5-4A7F-8A0A-93D705783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876800"/>
            <a:ext cx="8629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7E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10ABBC0-BE52-4241-8386-3DB4100FD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991100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3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1327"/>
                </a:solidFill>
                <a:latin typeface="Aptos"/>
                <a:ea typeface="Aptos"/>
                <a:cs typeface="Aptos"/>
              </a:rPr>
              <a:t>Show Grafana update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52C2541-974D-490F-BFDD-3202C27C8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991100"/>
            <a:ext cx="428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587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D5870"/>
                </a:solidFill>
                <a:latin typeface="Aptos"/>
                <a:ea typeface="Aptos"/>
                <a:cs typeface="Aptos"/>
              </a:rPr>
              <a:t>Metrics change after queries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E4A7D72-A638-4510-AAD1-09A0AB629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77000"/>
            <a:ext cx="2781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8A8198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A8198"/>
                </a:solidFill>
                <a:latin typeface="Aptos"/>
                <a:ea typeface="Aptos"/>
                <a:cs typeface="Aptos"/>
              </a:rPr>
              <a:t>Local/on-prem RAG assistant  |  16</a:t>
            </a:r>
          </a:p>
        </p:txBody>
      </p:sp>
    </p:spTree>
    <p:extLst>
      <p:ext uri="{BB962C8B-B14F-4D97-AF65-F5344CB8AC3E}">
        <p14:creationId xmlns:p14="http://schemas.microsoft.com/office/powerpoint/2010/main" val="857920864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37562CD-2327-4507-B1B0-F8C32CF2E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265ACB-49D2-4770-B64C-1C1C3C55D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2A86"/>
          </a:solidFill>
          <a:ln xmlns:a="http://schemas.openxmlformats.org/drawingml/2006/main" w="0">
            <a:solidFill>
              <a:srgbClr val="5B2A86"/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1339E92-AE03-4ACA-A0F9-D1AEC635D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3863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187A"/>
          </a:solidFill>
          <a:ln xmlns:a="http://schemas.openxmlformats.org/drawingml/2006/main" w="0">
            <a:solidFill>
              <a:srgbClr val="C2187A"/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B63EB420-02AD-4143-B53A-16A65CD89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2187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2187A"/>
                </a:solidFill>
                <a:latin typeface="Aptos"/>
                <a:ea typeface="Aptos"/>
                <a:cs typeface="Aptos"/>
              </a:rPr>
              <a:t>CONCLUSION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8D2065-AEBA-485C-A14E-7C56A5286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438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187A"/>
          </a:solidFill>
          <a:ln xmlns:a="http://schemas.openxmlformats.org/drawingml/2006/main" w="0">
            <a:solidFill>
              <a:srgbClr val="C2187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C30DA3-A965-4F1D-9519-20032A1A0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9144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3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1327"/>
                </a:solidFill>
                <a:latin typeface="Aptos Display"/>
                <a:ea typeface="Aptos Display"/>
                <a:cs typeface="Aptos Display"/>
              </a:rPr>
              <a:t>The project is a local RAG foundation ready to expand into full WE support.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4EDF42-2B79-48D8-BB24-9F26CB859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05050"/>
            <a:ext cx="27051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7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354E41-B9CC-426B-AD06-F19764F4B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571750"/>
            <a:ext cx="9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2A86"/>
          </a:solidFill>
          <a:ln xmlns:a="http://schemas.openxmlformats.org/drawingml/2006/main" w="0">
            <a:solidFill>
              <a:srgbClr val="5B2A8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174283-3C95-4079-994E-C7B274359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514600"/>
            <a:ext cx="190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132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1327"/>
                </a:solidFill>
                <a:latin typeface="Aptos"/>
                <a:ea typeface="Aptos"/>
                <a:cs typeface="Aptos"/>
              </a:rPr>
              <a:t>Local/on-prem assistant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B2F159-A31F-4D0B-BF08-D59306982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05050"/>
            <a:ext cx="27051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D"/>
          </a:solidFill>
          <a:ln xmlns:a="http://schemas.openxmlformats.org/drawingml/2006/main" w="9525">
            <a:solidFill>
              <a:srgbClr val="DED7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FBB2FB-7B88-49C7-BACD-5EE802DCC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571750"/>
            <a:ext cx="9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A8"/>
          </a:solidFill>
          <a:ln xmlns:a="http://schemas.openxmlformats.org/drawingml/2006/main" w="0">
            <a:solidFill>
              <a:srgbClr val="008CA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218339-1C9E-4F8D-93CB-4D9B1BA11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514600"/>
            <a:ext cx="190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132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1327"/>
                </a:solidFill>
                <a:latin typeface="Aptos"/>
                <a:ea typeface="Aptos"/>
                <a:cs typeface="Aptos"/>
              </a:rPr>
              <a:t>Hybrid retrieval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4DBDE5-742A-405C-AA1E-FA401EF3E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305050"/>
            <a:ext cx="27051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7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CA6243-A006-4D8D-B78B-62E61B94D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571750"/>
            <a:ext cx="9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7D55"/>
          </a:solidFill>
          <a:ln xmlns:a="http://schemas.openxmlformats.org/drawingml/2006/main" w="0">
            <a:solidFill>
              <a:srgbClr val="1E7D5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4C6049-CEA5-469A-B195-A9DECFE63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514600"/>
            <a:ext cx="190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132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1327"/>
                </a:solidFill>
                <a:latin typeface="Aptos"/>
                <a:ea typeface="Aptos"/>
                <a:cs typeface="Aptos"/>
              </a:rPr>
              <a:t>Citations and fallback safety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956F10-3C34-4E3F-9B3C-2902BBDB8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38550"/>
            <a:ext cx="27051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D"/>
          </a:solidFill>
          <a:ln xmlns:a="http://schemas.openxmlformats.org/drawingml/2006/main" w="9525">
            <a:solidFill>
              <a:srgbClr val="DED7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2B399B-8D0B-4097-8220-5348E43A3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187A"/>
          </a:solidFill>
          <a:ln xmlns:a="http://schemas.openxmlformats.org/drawingml/2006/main" w="0">
            <a:solidFill>
              <a:srgbClr val="C2187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062ADB-8722-4C9E-BAF6-A3EC16FB1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848100"/>
            <a:ext cx="190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132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1327"/>
                </a:solidFill>
                <a:latin typeface="Aptos"/>
                <a:ea typeface="Aptos"/>
                <a:cs typeface="Aptos"/>
              </a:rPr>
              <a:t>Uploads with Docling/OCR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B27DE8-3ACD-4E83-BF5A-EA781F818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638550"/>
            <a:ext cx="27051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7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AC92A5-2415-4136-926D-8932F32FF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905250"/>
            <a:ext cx="9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6A00"/>
          </a:solidFill>
          <a:ln xmlns:a="http://schemas.openxmlformats.org/drawingml/2006/main" w="0">
            <a:solidFill>
              <a:srgbClr val="A66A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54379B-A8FA-4A84-BD6B-8381D7D98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848100"/>
            <a:ext cx="190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132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1327"/>
                </a:solidFill>
                <a:latin typeface="Aptos"/>
                <a:ea typeface="Aptos"/>
                <a:cs typeface="Aptos"/>
              </a:rPr>
              <a:t>Observability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650F47-4A50-4261-9844-97C00D508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638550"/>
            <a:ext cx="27051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D"/>
          </a:solidFill>
          <a:ln xmlns:a="http://schemas.openxmlformats.org/drawingml/2006/main" w="9525">
            <a:solidFill>
              <a:srgbClr val="DED7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EDC3F0-292C-490C-B6CC-46E97CEF6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905250"/>
            <a:ext cx="9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2A86"/>
          </a:solidFill>
          <a:ln xmlns:a="http://schemas.openxmlformats.org/drawingml/2006/main" w="0">
            <a:solidFill>
              <a:srgbClr val="5B2A8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031B6E-0A6E-4462-B8A4-9937B2B54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848100"/>
            <a:ext cx="190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132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1327"/>
                </a:solidFill>
                <a:latin typeface="Aptos"/>
                <a:ea typeface="Aptos"/>
                <a:cs typeface="Aptos"/>
              </a:rPr>
              <a:t>Ready for full-site and agentic support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7152C2-2DF8-40BF-B951-71803008B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334000"/>
            <a:ext cx="7524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5B2A86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5B2A86"/>
                </a:solidFill>
                <a:latin typeface="Aptos Display"/>
                <a:ea typeface="Aptos Display"/>
                <a:cs typeface="Aptos Display"/>
              </a:rPr>
              <a:t>Telecom Egypt Intelligent Assistant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7275CB-FEC4-4427-8149-330DA0B47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77000"/>
            <a:ext cx="2781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8A8198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A8198"/>
                </a:solidFill>
                <a:latin typeface="Aptos"/>
                <a:ea typeface="Aptos"/>
                <a:cs typeface="Aptos"/>
              </a:rPr>
              <a:t>Local/on-prem RAG assistant  |  17</a:t>
            </a:r>
          </a:p>
        </p:txBody>
      </p:sp>
    </p:spTree>
    <p:extLst>
      <p:ext uri="{BB962C8B-B14F-4D97-AF65-F5344CB8AC3E}">
        <p14:creationId xmlns:p14="http://schemas.microsoft.com/office/powerpoint/2010/main" val="15754805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2026-06-10T08:55:09.2480000Z</dcterms:created>
  <dcterms:modified xsi:type="dcterms:W3CDTF">2026-06-10T08:55:09.2480000Z</dcterms:modified>
</coreProperties>
</file>